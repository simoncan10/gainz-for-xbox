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not the method. Do not open with who we are or how we did it. The tiles on the right are the whole recommendation: 21 slots, four clean adds, five restarts, twelve breadth titles.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numbers as a rhythm, four descending beats. The point of the slide is that the funnel is narrow and every narrowing is defensible. Owners, price and review counts behind these filters are all Steam data — estimates, not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filter you can explain the failure of is more trustworthy than one presented as obvious. Price now does no ranking work anywhere in the recommendation; it is carried as an annotation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answer to the hostile question 'you excluded Edith Finch from an indie portfolio?' — we did, we caught it, and here is the rebuilt rule. Eight of the wrongly-excluded canonical titles now sit inside the top twenty.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yardstick flip, and nothing else on this slide. Concede the left-hand number out loud before anyone reaches it. Do NOT say engagement — there is no playtime data in this dataset and no engagement claim is made anywhere in this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1 leads because it is the only tier with nothing to explain. Tier 2 is ordered stable counterparty first — Annapurna and Humble both lost their entire staff in 2024. Tier 3 is the investment case. Temtem is ranked last on purpose and is the designated first cut.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ask, then stop talking. The honesty footer is the answer to three of the four most likely questions and should be read aloud only if challenged.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0F2E"/>
        </a:solidFill>
      </p:bgPr>
    </p:bg>
    <p:spTree>
      <p:nvGrpSpPr>
        <p:cNvPr id="1" name=""/>
        <p:cNvGrpSpPr/>
        <p:nvPr/>
      </p:nvGrpSpPr>
      <p:grpSpPr>
        <a:xfrm>
          <a:off x="0" y="0"/>
          <a:ext cx="0" cy="0"/>
          <a:chOff x="0" y="0"/>
          <a:chExt cx="0" cy="0"/>
        </a:xfrm>
      </p:grpSpPr>
      <p:sp>
        <p:nvSpPr>
          <p:cNvPr id="2" name="Text 0"/>
          <p:cNvSpPr/>
          <p:nvPr/>
        </p:nvSpPr>
        <p:spPr>
          <a:xfrm>
            <a:off x="731520" y="1417320"/>
            <a:ext cx="6949440" cy="2194560"/>
          </a:xfrm>
          <a:prstGeom prst="rect">
            <a:avLst/>
          </a:prstGeom>
          <a:noFill/>
          <a:ln/>
        </p:spPr>
        <p:txBody>
          <a:bodyPr wrap="square" lIns="0" tIns="0" rIns="0" bIns="0" rtlCol="0" anchor="ctr"/>
          <a:lstStyle/>
          <a:p>
            <a:pPr indent="0" marL="0">
              <a:lnSpc>
                <a:spcPts val="5800"/>
              </a:lnSpc>
              <a:buNone/>
            </a:pPr>
            <a:r>
              <a:rPr lang="en-US" sz="5400" b="1" dirty="0">
                <a:solidFill>
                  <a:srgbClr val="FFFFFF"/>
                </a:solidFill>
                <a:latin typeface="Cambria" pitchFamily="34" charset="0"/>
                <a:ea typeface="Cambria" pitchFamily="34" charset="-122"/>
                <a:cs typeface="Cambria" pitchFamily="34" charset="-120"/>
              </a:rPr>
              <a:t>Buying breadth,</a:t>
            </a:r>
            <a:endParaRPr lang="en-US" sz="5400" dirty="0"/>
          </a:p>
          <a:p>
            <a:pPr indent="0" marL="0">
              <a:lnSpc>
                <a:spcPts val="5800"/>
              </a:lnSpc>
              <a:buNone/>
            </a:pPr>
            <a:r>
              <a:rPr lang="en-US" sz="5400" b="1" dirty="0">
                <a:solidFill>
                  <a:srgbClr val="FFFFFF"/>
                </a:solidFill>
                <a:latin typeface="Cambria" pitchFamily="34" charset="0"/>
                <a:ea typeface="Cambria" pitchFamily="34" charset="-122"/>
                <a:cs typeface="Cambria" pitchFamily="34" charset="-120"/>
              </a:rPr>
              <a:t>not blockbusters</a:t>
            </a:r>
            <a:endParaRPr lang="en-US" sz="5400" dirty="0"/>
          </a:p>
        </p:txBody>
      </p:sp>
      <p:sp>
        <p:nvSpPr>
          <p:cNvPr id="3" name="Text 1"/>
          <p:cNvSpPr/>
          <p:nvPr/>
        </p:nvSpPr>
        <p:spPr>
          <a:xfrm>
            <a:off x="731520" y="3703320"/>
            <a:ext cx="6949440" cy="457200"/>
          </a:xfrm>
          <a:prstGeom prst="rect">
            <a:avLst/>
          </a:prstGeom>
          <a:noFill/>
          <a:ln/>
        </p:spPr>
        <p:txBody>
          <a:bodyPr wrap="square" lIns="0" tIns="0" rIns="0" bIns="0" rtlCol="0" anchor="ctr"/>
          <a:lstStyle/>
          <a:p>
            <a:pPr indent="0" marL="0">
              <a:buNone/>
            </a:pPr>
            <a:r>
              <a:rPr lang="en-US" sz="2200" dirty="0">
                <a:solidFill>
                  <a:srgbClr val="F5A623"/>
                </a:solidFill>
                <a:latin typeface="Calibri" pitchFamily="34" charset="0"/>
                <a:ea typeface="Calibri" pitchFamily="34" charset="-122"/>
                <a:cs typeface="Calibri" pitchFamily="34" charset="-120"/>
              </a:rPr>
              <a:t>An indie slate for PC Game Pass</a:t>
            </a:r>
            <a:endParaRPr lang="en-US" sz="2200" dirty="0"/>
          </a:p>
        </p:txBody>
      </p:sp>
      <p:sp>
        <p:nvSpPr>
          <p:cNvPr id="4" name="Text 2"/>
          <p:cNvSpPr/>
          <p:nvPr/>
        </p:nvSpPr>
        <p:spPr>
          <a:xfrm>
            <a:off x="731520" y="4434840"/>
            <a:ext cx="7132320" cy="914400"/>
          </a:xfrm>
          <a:prstGeom prst="rect">
            <a:avLst/>
          </a:prstGeom>
          <a:noFill/>
          <a:ln/>
        </p:spPr>
        <p:txBody>
          <a:bodyPr wrap="square" lIns="0" tIns="0" rIns="0" bIns="0" rtlCol="0" anchor="ctr"/>
          <a:lstStyle/>
          <a:p>
            <a:pPr indent="0" marL="0">
              <a:lnSpc>
                <a:spcPts val="2600"/>
              </a:lnSpc>
              <a:buNone/>
            </a:pPr>
            <a:r>
              <a:rPr lang="en-US" sz="1700" dirty="0">
                <a:solidFill>
                  <a:srgbClr val="B0A4D6"/>
                </a:solidFill>
                <a:latin typeface="Calibri" pitchFamily="34" charset="0"/>
                <a:ea typeface="Calibri" pitchFamily="34" charset="-122"/>
                <a:cs typeface="Calibri" pitchFamily="34" charset="-120"/>
              </a:rPr>
              <a:t>Which games should the service buy — and why should you</a:t>
            </a:r>
            <a:endParaRPr lang="en-US" sz="1700" dirty="0"/>
          </a:p>
          <a:p>
            <a:pPr indent="0" marL="0">
              <a:lnSpc>
                <a:spcPts val="2600"/>
              </a:lnSpc>
              <a:buNone/>
            </a:pPr>
            <a:r>
              <a:rPr lang="en-US" sz="1700" dirty="0">
                <a:solidFill>
                  <a:srgbClr val="B0A4D6"/>
                </a:solidFill>
                <a:latin typeface="Calibri" pitchFamily="34" charset="0"/>
                <a:ea typeface="Calibri" pitchFamily="34" charset="-122"/>
                <a:cs typeface="Calibri" pitchFamily="34" charset="-120"/>
              </a:rPr>
              <a:t>trust the filter that chose them?</a:t>
            </a:r>
            <a:endParaRPr lang="en-US" sz="1700" dirty="0"/>
          </a:p>
        </p:txBody>
      </p:sp>
      <p:sp>
        <p:nvSpPr>
          <p:cNvPr id="5" name="Shape 3"/>
          <p:cNvSpPr/>
          <p:nvPr/>
        </p:nvSpPr>
        <p:spPr>
          <a:xfrm>
            <a:off x="8732520" y="1463040"/>
            <a:ext cx="658368" cy="457200"/>
          </a:xfrm>
          <a:prstGeom prst="roundRect">
            <a:avLst>
              <a:gd name="adj" fmla="val 16000"/>
            </a:avLst>
          </a:prstGeom>
          <a:solidFill>
            <a:srgbClr val="F5A623"/>
          </a:solidFill>
          <a:ln w="12700">
            <a:solidFill>
              <a:srgbClr val="F5A623"/>
            </a:solidFill>
            <a:prstDash val="solid"/>
          </a:ln>
        </p:spPr>
      </p:sp>
      <p:sp>
        <p:nvSpPr>
          <p:cNvPr id="6" name="Shape 4"/>
          <p:cNvSpPr/>
          <p:nvPr/>
        </p:nvSpPr>
        <p:spPr>
          <a:xfrm>
            <a:off x="9592056" y="1463040"/>
            <a:ext cx="658368" cy="457200"/>
          </a:xfrm>
          <a:prstGeom prst="roundRect">
            <a:avLst>
              <a:gd name="adj" fmla="val 16000"/>
            </a:avLst>
          </a:prstGeom>
          <a:solidFill>
            <a:srgbClr val="F5A623"/>
          </a:solidFill>
          <a:ln w="12700">
            <a:solidFill>
              <a:srgbClr val="F5A623"/>
            </a:solidFill>
            <a:prstDash val="solid"/>
          </a:ln>
        </p:spPr>
      </p:sp>
      <p:sp>
        <p:nvSpPr>
          <p:cNvPr id="7" name="Shape 5"/>
          <p:cNvSpPr/>
          <p:nvPr/>
        </p:nvSpPr>
        <p:spPr>
          <a:xfrm>
            <a:off x="10451592" y="1463040"/>
            <a:ext cx="658368" cy="457200"/>
          </a:xfrm>
          <a:prstGeom prst="roundRect">
            <a:avLst>
              <a:gd name="adj" fmla="val 16000"/>
            </a:avLst>
          </a:prstGeom>
          <a:solidFill>
            <a:srgbClr val="F5A623"/>
          </a:solidFill>
          <a:ln w="12700">
            <a:solidFill>
              <a:srgbClr val="F5A623"/>
            </a:solidFill>
            <a:prstDash val="solid"/>
          </a:ln>
        </p:spPr>
      </p:sp>
      <p:sp>
        <p:nvSpPr>
          <p:cNvPr id="8" name="Shape 6"/>
          <p:cNvSpPr/>
          <p:nvPr/>
        </p:nvSpPr>
        <p:spPr>
          <a:xfrm>
            <a:off x="8732520" y="2084832"/>
            <a:ext cx="658368" cy="457200"/>
          </a:xfrm>
          <a:prstGeom prst="roundRect">
            <a:avLst>
              <a:gd name="adj" fmla="val 16000"/>
            </a:avLst>
          </a:prstGeom>
          <a:solidFill>
            <a:srgbClr val="F5A623"/>
          </a:solidFill>
          <a:ln w="12700">
            <a:solidFill>
              <a:srgbClr val="F5A623"/>
            </a:solidFill>
            <a:prstDash val="solid"/>
          </a:ln>
        </p:spPr>
      </p:sp>
      <p:sp>
        <p:nvSpPr>
          <p:cNvPr id="9" name="Shape 7"/>
          <p:cNvSpPr/>
          <p:nvPr/>
        </p:nvSpPr>
        <p:spPr>
          <a:xfrm>
            <a:off x="9592056" y="2084832"/>
            <a:ext cx="658368" cy="457200"/>
          </a:xfrm>
          <a:prstGeom prst="roundRect">
            <a:avLst>
              <a:gd name="adj" fmla="val 16000"/>
            </a:avLst>
          </a:prstGeom>
          <a:solidFill>
            <a:srgbClr val="41D6A8"/>
          </a:solidFill>
          <a:ln w="12700">
            <a:solidFill>
              <a:srgbClr val="41D6A8"/>
            </a:solidFill>
            <a:prstDash val="solid"/>
          </a:ln>
        </p:spPr>
      </p:sp>
      <p:sp>
        <p:nvSpPr>
          <p:cNvPr id="10" name="Shape 8"/>
          <p:cNvSpPr/>
          <p:nvPr/>
        </p:nvSpPr>
        <p:spPr>
          <a:xfrm>
            <a:off x="10451592" y="2084832"/>
            <a:ext cx="658368" cy="457200"/>
          </a:xfrm>
          <a:prstGeom prst="roundRect">
            <a:avLst>
              <a:gd name="adj" fmla="val 16000"/>
            </a:avLst>
          </a:prstGeom>
          <a:solidFill>
            <a:srgbClr val="41D6A8"/>
          </a:solidFill>
          <a:ln w="12700">
            <a:solidFill>
              <a:srgbClr val="41D6A8"/>
            </a:solidFill>
            <a:prstDash val="solid"/>
          </a:ln>
        </p:spPr>
      </p:sp>
      <p:sp>
        <p:nvSpPr>
          <p:cNvPr id="11" name="Shape 9"/>
          <p:cNvSpPr/>
          <p:nvPr/>
        </p:nvSpPr>
        <p:spPr>
          <a:xfrm>
            <a:off x="8732520" y="2706624"/>
            <a:ext cx="658368" cy="457200"/>
          </a:xfrm>
          <a:prstGeom prst="roundRect">
            <a:avLst>
              <a:gd name="adj" fmla="val 16000"/>
            </a:avLst>
          </a:prstGeom>
          <a:solidFill>
            <a:srgbClr val="41D6A8"/>
          </a:solidFill>
          <a:ln w="12700">
            <a:solidFill>
              <a:srgbClr val="41D6A8"/>
            </a:solidFill>
            <a:prstDash val="solid"/>
          </a:ln>
        </p:spPr>
      </p:sp>
      <p:sp>
        <p:nvSpPr>
          <p:cNvPr id="12" name="Shape 10"/>
          <p:cNvSpPr/>
          <p:nvPr/>
        </p:nvSpPr>
        <p:spPr>
          <a:xfrm>
            <a:off x="9592056" y="2706624"/>
            <a:ext cx="658368" cy="457200"/>
          </a:xfrm>
          <a:prstGeom prst="roundRect">
            <a:avLst>
              <a:gd name="adj" fmla="val 16000"/>
            </a:avLst>
          </a:prstGeom>
          <a:solidFill>
            <a:srgbClr val="41D6A8"/>
          </a:solidFill>
          <a:ln w="12700">
            <a:solidFill>
              <a:srgbClr val="41D6A8"/>
            </a:solidFill>
            <a:prstDash val="solid"/>
          </a:ln>
        </p:spPr>
      </p:sp>
      <p:sp>
        <p:nvSpPr>
          <p:cNvPr id="13" name="Shape 11"/>
          <p:cNvSpPr/>
          <p:nvPr/>
        </p:nvSpPr>
        <p:spPr>
          <a:xfrm>
            <a:off x="10451592" y="2706624"/>
            <a:ext cx="658368" cy="457200"/>
          </a:xfrm>
          <a:prstGeom prst="roundRect">
            <a:avLst>
              <a:gd name="adj" fmla="val 16000"/>
            </a:avLst>
          </a:prstGeom>
          <a:solidFill>
            <a:srgbClr val="41D6A8"/>
          </a:solidFill>
          <a:ln w="12700">
            <a:solidFill>
              <a:srgbClr val="41D6A8"/>
            </a:solidFill>
            <a:prstDash val="solid"/>
          </a:ln>
        </p:spPr>
      </p:sp>
      <p:sp>
        <p:nvSpPr>
          <p:cNvPr id="14" name="Shape 12"/>
          <p:cNvSpPr/>
          <p:nvPr/>
        </p:nvSpPr>
        <p:spPr>
          <a:xfrm>
            <a:off x="8732520" y="3328416"/>
            <a:ext cx="658368" cy="457200"/>
          </a:xfrm>
          <a:prstGeom prst="roundRect">
            <a:avLst>
              <a:gd name="adj" fmla="val 16000"/>
            </a:avLst>
          </a:prstGeom>
          <a:solidFill>
            <a:srgbClr val="3A2A6E"/>
          </a:solidFill>
          <a:ln w="12700">
            <a:solidFill>
              <a:srgbClr val="3A2A6E"/>
            </a:solidFill>
            <a:prstDash val="solid"/>
          </a:ln>
        </p:spPr>
      </p:sp>
      <p:sp>
        <p:nvSpPr>
          <p:cNvPr id="15" name="Shape 13"/>
          <p:cNvSpPr/>
          <p:nvPr/>
        </p:nvSpPr>
        <p:spPr>
          <a:xfrm>
            <a:off x="9592056" y="3328416"/>
            <a:ext cx="658368" cy="457200"/>
          </a:xfrm>
          <a:prstGeom prst="roundRect">
            <a:avLst>
              <a:gd name="adj" fmla="val 16000"/>
            </a:avLst>
          </a:prstGeom>
          <a:solidFill>
            <a:srgbClr val="3A2A6E"/>
          </a:solidFill>
          <a:ln w="12700">
            <a:solidFill>
              <a:srgbClr val="3A2A6E"/>
            </a:solidFill>
            <a:prstDash val="solid"/>
          </a:ln>
        </p:spPr>
      </p:sp>
      <p:sp>
        <p:nvSpPr>
          <p:cNvPr id="16" name="Shape 14"/>
          <p:cNvSpPr/>
          <p:nvPr/>
        </p:nvSpPr>
        <p:spPr>
          <a:xfrm>
            <a:off x="10451592" y="3328416"/>
            <a:ext cx="658368" cy="457200"/>
          </a:xfrm>
          <a:prstGeom prst="roundRect">
            <a:avLst>
              <a:gd name="adj" fmla="val 16000"/>
            </a:avLst>
          </a:prstGeom>
          <a:solidFill>
            <a:srgbClr val="3A2A6E"/>
          </a:solidFill>
          <a:ln w="12700">
            <a:solidFill>
              <a:srgbClr val="3A2A6E"/>
            </a:solidFill>
            <a:prstDash val="solid"/>
          </a:ln>
        </p:spPr>
      </p:sp>
      <p:sp>
        <p:nvSpPr>
          <p:cNvPr id="17" name="Shape 15"/>
          <p:cNvSpPr/>
          <p:nvPr/>
        </p:nvSpPr>
        <p:spPr>
          <a:xfrm>
            <a:off x="8732520" y="3950208"/>
            <a:ext cx="658368" cy="457200"/>
          </a:xfrm>
          <a:prstGeom prst="roundRect">
            <a:avLst>
              <a:gd name="adj" fmla="val 16000"/>
            </a:avLst>
          </a:prstGeom>
          <a:solidFill>
            <a:srgbClr val="3A2A6E"/>
          </a:solidFill>
          <a:ln w="12700">
            <a:solidFill>
              <a:srgbClr val="3A2A6E"/>
            </a:solidFill>
            <a:prstDash val="solid"/>
          </a:ln>
        </p:spPr>
      </p:sp>
      <p:sp>
        <p:nvSpPr>
          <p:cNvPr id="18" name="Shape 16"/>
          <p:cNvSpPr/>
          <p:nvPr/>
        </p:nvSpPr>
        <p:spPr>
          <a:xfrm>
            <a:off x="9592056" y="3950208"/>
            <a:ext cx="658368" cy="457200"/>
          </a:xfrm>
          <a:prstGeom prst="roundRect">
            <a:avLst>
              <a:gd name="adj" fmla="val 16000"/>
            </a:avLst>
          </a:prstGeom>
          <a:solidFill>
            <a:srgbClr val="3A2A6E"/>
          </a:solidFill>
          <a:ln w="12700">
            <a:solidFill>
              <a:srgbClr val="3A2A6E"/>
            </a:solidFill>
            <a:prstDash val="solid"/>
          </a:ln>
        </p:spPr>
      </p:sp>
      <p:sp>
        <p:nvSpPr>
          <p:cNvPr id="19" name="Shape 17"/>
          <p:cNvSpPr/>
          <p:nvPr/>
        </p:nvSpPr>
        <p:spPr>
          <a:xfrm>
            <a:off x="10451592" y="3950208"/>
            <a:ext cx="658368" cy="457200"/>
          </a:xfrm>
          <a:prstGeom prst="roundRect">
            <a:avLst>
              <a:gd name="adj" fmla="val 16000"/>
            </a:avLst>
          </a:prstGeom>
          <a:solidFill>
            <a:srgbClr val="3A2A6E"/>
          </a:solidFill>
          <a:ln w="12700">
            <a:solidFill>
              <a:srgbClr val="3A2A6E"/>
            </a:solidFill>
            <a:prstDash val="solid"/>
          </a:ln>
        </p:spPr>
      </p:sp>
      <p:sp>
        <p:nvSpPr>
          <p:cNvPr id="20" name="Shape 18"/>
          <p:cNvSpPr/>
          <p:nvPr/>
        </p:nvSpPr>
        <p:spPr>
          <a:xfrm>
            <a:off x="8732520" y="4572000"/>
            <a:ext cx="658368" cy="457200"/>
          </a:xfrm>
          <a:prstGeom prst="roundRect">
            <a:avLst>
              <a:gd name="adj" fmla="val 16000"/>
            </a:avLst>
          </a:prstGeom>
          <a:solidFill>
            <a:srgbClr val="3A2A6E"/>
          </a:solidFill>
          <a:ln w="12700">
            <a:solidFill>
              <a:srgbClr val="3A2A6E"/>
            </a:solidFill>
            <a:prstDash val="solid"/>
          </a:ln>
        </p:spPr>
      </p:sp>
      <p:sp>
        <p:nvSpPr>
          <p:cNvPr id="21" name="Shape 19"/>
          <p:cNvSpPr/>
          <p:nvPr/>
        </p:nvSpPr>
        <p:spPr>
          <a:xfrm>
            <a:off x="9592056" y="4572000"/>
            <a:ext cx="658368" cy="457200"/>
          </a:xfrm>
          <a:prstGeom prst="roundRect">
            <a:avLst>
              <a:gd name="adj" fmla="val 16000"/>
            </a:avLst>
          </a:prstGeom>
          <a:solidFill>
            <a:srgbClr val="3A2A6E"/>
          </a:solidFill>
          <a:ln w="12700">
            <a:solidFill>
              <a:srgbClr val="3A2A6E"/>
            </a:solidFill>
            <a:prstDash val="solid"/>
          </a:ln>
        </p:spPr>
      </p:sp>
      <p:sp>
        <p:nvSpPr>
          <p:cNvPr id="22" name="Shape 20"/>
          <p:cNvSpPr/>
          <p:nvPr/>
        </p:nvSpPr>
        <p:spPr>
          <a:xfrm>
            <a:off x="10451592" y="4572000"/>
            <a:ext cx="658368" cy="457200"/>
          </a:xfrm>
          <a:prstGeom prst="roundRect">
            <a:avLst>
              <a:gd name="adj" fmla="val 16000"/>
            </a:avLst>
          </a:prstGeom>
          <a:solidFill>
            <a:srgbClr val="3A2A6E"/>
          </a:solidFill>
          <a:ln w="12700">
            <a:solidFill>
              <a:srgbClr val="3A2A6E"/>
            </a:solidFill>
            <a:prstDash val="solid"/>
          </a:ln>
        </p:spPr>
      </p:sp>
      <p:sp>
        <p:nvSpPr>
          <p:cNvPr id="23" name="Shape 21"/>
          <p:cNvSpPr/>
          <p:nvPr/>
        </p:nvSpPr>
        <p:spPr>
          <a:xfrm>
            <a:off x="8732520" y="5193792"/>
            <a:ext cx="658368" cy="457200"/>
          </a:xfrm>
          <a:prstGeom prst="roundRect">
            <a:avLst>
              <a:gd name="adj" fmla="val 16000"/>
            </a:avLst>
          </a:prstGeom>
          <a:solidFill>
            <a:srgbClr val="3A2A6E"/>
          </a:solidFill>
          <a:ln w="12700">
            <a:solidFill>
              <a:srgbClr val="3A2A6E"/>
            </a:solidFill>
            <a:prstDash val="solid"/>
          </a:ln>
        </p:spPr>
      </p:sp>
      <p:sp>
        <p:nvSpPr>
          <p:cNvPr id="24" name="Shape 22"/>
          <p:cNvSpPr/>
          <p:nvPr/>
        </p:nvSpPr>
        <p:spPr>
          <a:xfrm>
            <a:off x="9592056" y="5193792"/>
            <a:ext cx="658368" cy="457200"/>
          </a:xfrm>
          <a:prstGeom prst="roundRect">
            <a:avLst>
              <a:gd name="adj" fmla="val 16000"/>
            </a:avLst>
          </a:prstGeom>
          <a:solidFill>
            <a:srgbClr val="3A2A6E"/>
          </a:solidFill>
          <a:ln w="12700">
            <a:solidFill>
              <a:srgbClr val="3A2A6E"/>
            </a:solidFill>
            <a:prstDash val="solid"/>
          </a:ln>
        </p:spPr>
      </p:sp>
      <p:sp>
        <p:nvSpPr>
          <p:cNvPr id="25" name="Shape 23"/>
          <p:cNvSpPr/>
          <p:nvPr/>
        </p:nvSpPr>
        <p:spPr>
          <a:xfrm>
            <a:off x="10451592" y="5193792"/>
            <a:ext cx="658368" cy="457200"/>
          </a:xfrm>
          <a:prstGeom prst="roundRect">
            <a:avLst>
              <a:gd name="adj" fmla="val 16000"/>
            </a:avLst>
          </a:prstGeom>
          <a:solidFill>
            <a:srgbClr val="3A2A6E"/>
          </a:solidFill>
          <a:ln w="12700">
            <a:solidFill>
              <a:srgbClr val="3A2A6E"/>
            </a:solidFill>
            <a:prstDash val="solid"/>
          </a:ln>
        </p:spPr>
      </p:sp>
      <p:sp>
        <p:nvSpPr>
          <p:cNvPr id="26" name="Text 24"/>
          <p:cNvSpPr/>
          <p:nvPr/>
        </p:nvSpPr>
        <p:spPr>
          <a:xfrm>
            <a:off x="8732520" y="5897880"/>
            <a:ext cx="2377440" cy="274320"/>
          </a:xfrm>
          <a:prstGeom prst="rect">
            <a:avLst/>
          </a:prstGeom>
          <a:noFill/>
          <a:ln/>
        </p:spPr>
        <p:txBody>
          <a:bodyPr wrap="square" lIns="0" tIns="0" rIns="0" bIns="0" rtlCol="0" anchor="ctr"/>
          <a:lstStyle/>
          <a:p>
            <a:pPr algn="ctr" indent="0" marL="0">
              <a:buNone/>
            </a:pPr>
            <a:r>
              <a:rPr lang="en-US" sz="1200" dirty="0">
                <a:solidFill>
                  <a:srgbClr val="B0A4D6"/>
                </a:solidFill>
                <a:latin typeface="Calibri" pitchFamily="34" charset="0"/>
                <a:ea typeface="Calibri" pitchFamily="34" charset="-122"/>
                <a:cs typeface="Calibri" pitchFamily="34" charset="-120"/>
              </a:rPr>
              <a:t>21 catalogue slots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0F2E"/>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THE FUNNEL</a:t>
            </a:r>
            <a:endParaRPr lang="en-US" sz="13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From the whole of Steam to twenty-one names</a:t>
            </a:r>
            <a:endParaRPr lang="en-US" sz="3800" dirty="0"/>
          </a:p>
        </p:txBody>
      </p:sp>
      <p:sp>
        <p:nvSpPr>
          <p:cNvPr id="4" name="Shape 2"/>
          <p:cNvSpPr/>
          <p:nvPr/>
        </p:nvSpPr>
        <p:spPr>
          <a:xfrm>
            <a:off x="640080" y="1920240"/>
            <a:ext cx="10881360" cy="713232"/>
          </a:xfrm>
          <a:prstGeom prst="roundRect">
            <a:avLst>
              <a:gd name="adj" fmla="val 12821"/>
            </a:avLst>
          </a:prstGeom>
          <a:solidFill>
            <a:srgbClr val="3A2A6E"/>
          </a:solidFill>
          <a:ln w="12700">
            <a:solidFill>
              <a:srgbClr val="3A2A6E"/>
            </a:solidFill>
            <a:prstDash val="solid"/>
          </a:ln>
        </p:spPr>
      </p:sp>
      <p:sp>
        <p:nvSpPr>
          <p:cNvPr id="5" name="Text 3"/>
          <p:cNvSpPr/>
          <p:nvPr/>
        </p:nvSpPr>
        <p:spPr>
          <a:xfrm>
            <a:off x="868680" y="1920240"/>
            <a:ext cx="1828800" cy="713232"/>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122,191</a:t>
            </a:r>
            <a:endParaRPr lang="en-US" sz="2600" dirty="0"/>
          </a:p>
        </p:txBody>
      </p:sp>
      <p:sp>
        <p:nvSpPr>
          <p:cNvPr id="6" name="Text 4"/>
          <p:cNvSpPr/>
          <p:nvPr/>
        </p:nvSpPr>
        <p:spPr>
          <a:xfrm>
            <a:off x="2697480" y="1920240"/>
            <a:ext cx="8686800" cy="7132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non-demo titles on Steam</a:t>
            </a:r>
            <a:endParaRPr lang="en-US" sz="1400" dirty="0"/>
          </a:p>
        </p:txBody>
      </p:sp>
      <p:sp>
        <p:nvSpPr>
          <p:cNvPr id="7" name="Shape 5"/>
          <p:cNvSpPr/>
          <p:nvPr/>
        </p:nvSpPr>
        <p:spPr>
          <a:xfrm>
            <a:off x="640080" y="2779776"/>
            <a:ext cx="9326880" cy="713232"/>
          </a:xfrm>
          <a:prstGeom prst="roundRect">
            <a:avLst>
              <a:gd name="adj" fmla="val 12821"/>
            </a:avLst>
          </a:prstGeom>
          <a:solidFill>
            <a:srgbClr val="4A3488"/>
          </a:solidFill>
          <a:ln w="12700">
            <a:solidFill>
              <a:srgbClr val="4A3488"/>
            </a:solidFill>
            <a:prstDash val="solid"/>
          </a:ln>
        </p:spPr>
      </p:sp>
      <p:sp>
        <p:nvSpPr>
          <p:cNvPr id="8" name="Text 6"/>
          <p:cNvSpPr/>
          <p:nvPr/>
        </p:nvSpPr>
        <p:spPr>
          <a:xfrm>
            <a:off x="868680" y="2779776"/>
            <a:ext cx="1828800" cy="713232"/>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573</a:t>
            </a:r>
            <a:endParaRPr lang="en-US" sz="2600" dirty="0"/>
          </a:p>
        </p:txBody>
      </p:sp>
      <p:sp>
        <p:nvSpPr>
          <p:cNvPr id="9" name="Text 7"/>
          <p:cNvSpPr/>
          <p:nvPr/>
        </p:nvSpPr>
        <p:spPr>
          <a:xfrm>
            <a:off x="2697480" y="2779776"/>
            <a:ext cx="7132320" cy="7132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eligible — paid, reviewed, well-liked, not already everywhere, genuinely indie</a:t>
            </a:r>
            <a:endParaRPr lang="en-US" sz="1400" dirty="0"/>
          </a:p>
        </p:txBody>
      </p:sp>
      <p:sp>
        <p:nvSpPr>
          <p:cNvPr id="10" name="Shape 8"/>
          <p:cNvSpPr/>
          <p:nvPr/>
        </p:nvSpPr>
        <p:spPr>
          <a:xfrm>
            <a:off x="640080" y="3639312"/>
            <a:ext cx="7772400" cy="713232"/>
          </a:xfrm>
          <a:prstGeom prst="roundRect">
            <a:avLst>
              <a:gd name="adj" fmla="val 12821"/>
            </a:avLst>
          </a:prstGeom>
          <a:solidFill>
            <a:srgbClr val="6247A8"/>
          </a:solidFill>
          <a:ln w="12700">
            <a:solidFill>
              <a:srgbClr val="6247A8"/>
            </a:solidFill>
            <a:prstDash val="solid"/>
          </a:ln>
        </p:spPr>
      </p:sp>
      <p:sp>
        <p:nvSpPr>
          <p:cNvPr id="11" name="Text 9"/>
          <p:cNvSpPr/>
          <p:nvPr/>
        </p:nvSpPr>
        <p:spPr>
          <a:xfrm>
            <a:off x="868680" y="3639312"/>
            <a:ext cx="1828800" cy="713232"/>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201</a:t>
            </a:r>
            <a:endParaRPr lang="en-US" sz="2600" dirty="0"/>
          </a:p>
        </p:txBody>
      </p:sp>
      <p:sp>
        <p:nvSpPr>
          <p:cNvPr id="12" name="Text 10"/>
          <p:cNvSpPr/>
          <p:nvPr/>
        </p:nvSpPr>
        <p:spPr>
          <a:xfrm>
            <a:off x="2697480" y="3639312"/>
            <a:ext cx="5577840" cy="713232"/>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qualifying on the composite</a:t>
            </a:r>
            <a:endParaRPr lang="en-US" sz="1400" dirty="0"/>
          </a:p>
        </p:txBody>
      </p:sp>
      <p:sp>
        <p:nvSpPr>
          <p:cNvPr id="13" name="Shape 11"/>
          <p:cNvSpPr/>
          <p:nvPr/>
        </p:nvSpPr>
        <p:spPr>
          <a:xfrm>
            <a:off x="640080" y="4498848"/>
            <a:ext cx="6400800" cy="713232"/>
          </a:xfrm>
          <a:prstGeom prst="roundRect">
            <a:avLst>
              <a:gd name="adj" fmla="val 12821"/>
            </a:avLst>
          </a:prstGeom>
          <a:solidFill>
            <a:srgbClr val="41D6A8"/>
          </a:solidFill>
          <a:ln w="12700">
            <a:solidFill>
              <a:srgbClr val="41D6A8"/>
            </a:solidFill>
            <a:prstDash val="solid"/>
          </a:ln>
        </p:spPr>
      </p:sp>
      <p:sp>
        <p:nvSpPr>
          <p:cNvPr id="14" name="Text 12"/>
          <p:cNvSpPr/>
          <p:nvPr/>
        </p:nvSpPr>
        <p:spPr>
          <a:xfrm>
            <a:off x="868680" y="4498848"/>
            <a:ext cx="1828800" cy="713232"/>
          </a:xfrm>
          <a:prstGeom prst="rect">
            <a:avLst/>
          </a:prstGeom>
          <a:noFill/>
          <a:ln/>
        </p:spPr>
        <p:txBody>
          <a:bodyPr wrap="square" lIns="0" tIns="0" rIns="0" bIns="0" rtlCol="0" anchor="ctr"/>
          <a:lstStyle/>
          <a:p>
            <a:pPr indent="0" marL="0">
              <a:buNone/>
            </a:pPr>
            <a:r>
              <a:rPr lang="en-US" sz="2600" b="1" dirty="0">
                <a:solidFill>
                  <a:srgbClr val="10281F"/>
                </a:solidFill>
                <a:latin typeface="Cambria" pitchFamily="34" charset="0"/>
                <a:ea typeface="Cambria" pitchFamily="34" charset="-122"/>
                <a:cs typeface="Cambria" pitchFamily="34" charset="-120"/>
              </a:rPr>
              <a:t>25</a:t>
            </a:r>
            <a:endParaRPr lang="en-US" sz="2600" dirty="0"/>
          </a:p>
        </p:txBody>
      </p:sp>
      <p:sp>
        <p:nvSpPr>
          <p:cNvPr id="15" name="Text 13"/>
          <p:cNvSpPr/>
          <p:nvPr/>
        </p:nvSpPr>
        <p:spPr>
          <a:xfrm>
            <a:off x="2697480" y="4498848"/>
            <a:ext cx="4206240" cy="713232"/>
          </a:xfrm>
          <a:prstGeom prst="rect">
            <a:avLst/>
          </a:prstGeom>
          <a:noFill/>
          <a:ln/>
        </p:spPr>
        <p:txBody>
          <a:bodyPr wrap="square" lIns="0" tIns="0" rIns="0" bIns="0" rtlCol="0" anchor="ctr"/>
          <a:lstStyle/>
          <a:p>
            <a:pPr indent="0" marL="0">
              <a:buNone/>
            </a:pPr>
            <a:r>
              <a:rPr lang="en-US" sz="1400" dirty="0">
                <a:solidFill>
                  <a:srgbClr val="10281F"/>
                </a:solidFill>
                <a:latin typeface="Calibri" pitchFamily="34" charset="0"/>
                <a:ea typeface="Calibri" pitchFamily="34" charset="-122"/>
                <a:cs typeface="Calibri" pitchFamily="34" charset="-120"/>
              </a:rPr>
              <a:t>checked by hand against Game Pass</a:t>
            </a:r>
            <a:endParaRPr lang="en-US" sz="1400" dirty="0"/>
          </a:p>
        </p:txBody>
      </p:sp>
      <p:sp>
        <p:nvSpPr>
          <p:cNvPr id="16" name="Shape 14"/>
          <p:cNvSpPr/>
          <p:nvPr/>
        </p:nvSpPr>
        <p:spPr>
          <a:xfrm>
            <a:off x="640080" y="5358384"/>
            <a:ext cx="5120640" cy="713232"/>
          </a:xfrm>
          <a:prstGeom prst="roundRect">
            <a:avLst>
              <a:gd name="adj" fmla="val 12821"/>
            </a:avLst>
          </a:prstGeom>
          <a:solidFill>
            <a:srgbClr val="F5A623"/>
          </a:solidFill>
          <a:ln w="12700">
            <a:solidFill>
              <a:srgbClr val="F5A623"/>
            </a:solidFill>
            <a:prstDash val="solid"/>
          </a:ln>
        </p:spPr>
      </p:sp>
      <p:sp>
        <p:nvSpPr>
          <p:cNvPr id="17" name="Text 15"/>
          <p:cNvSpPr/>
          <p:nvPr/>
        </p:nvSpPr>
        <p:spPr>
          <a:xfrm>
            <a:off x="868680" y="5358384"/>
            <a:ext cx="1828800" cy="713232"/>
          </a:xfrm>
          <a:prstGeom prst="rect">
            <a:avLst/>
          </a:prstGeom>
          <a:noFill/>
          <a:ln/>
        </p:spPr>
        <p:txBody>
          <a:bodyPr wrap="square" lIns="0" tIns="0" rIns="0" bIns="0" rtlCol="0" anchor="ctr"/>
          <a:lstStyle/>
          <a:p>
            <a:pPr indent="0" marL="0">
              <a:buNone/>
            </a:pPr>
            <a:r>
              <a:rPr lang="en-US" sz="2600" b="1" dirty="0">
                <a:solidFill>
                  <a:srgbClr val="3A2400"/>
                </a:solidFill>
                <a:latin typeface="Cambria" pitchFamily="34" charset="0"/>
                <a:ea typeface="Cambria" pitchFamily="34" charset="-122"/>
                <a:cs typeface="Cambria" pitchFamily="34" charset="-120"/>
              </a:rPr>
              <a:t>21</a:t>
            </a:r>
            <a:endParaRPr lang="en-US" sz="2600" dirty="0"/>
          </a:p>
        </p:txBody>
      </p:sp>
      <p:sp>
        <p:nvSpPr>
          <p:cNvPr id="18" name="Text 16"/>
          <p:cNvSpPr/>
          <p:nvPr/>
        </p:nvSpPr>
        <p:spPr>
          <a:xfrm>
            <a:off x="2697480" y="5358384"/>
            <a:ext cx="2926080" cy="713232"/>
          </a:xfrm>
          <a:prstGeom prst="rect">
            <a:avLst/>
          </a:prstGeom>
          <a:noFill/>
          <a:ln/>
        </p:spPr>
        <p:txBody>
          <a:bodyPr wrap="square" lIns="0" tIns="0" rIns="0" bIns="0" rtlCol="0" anchor="ctr"/>
          <a:lstStyle/>
          <a:p>
            <a:pPr indent="0" marL="0">
              <a:buNone/>
            </a:pPr>
            <a:r>
              <a:rPr lang="en-US" sz="1400" dirty="0">
                <a:solidFill>
                  <a:srgbClr val="3A2400"/>
                </a:solidFill>
                <a:latin typeface="Calibri" pitchFamily="34" charset="0"/>
                <a:ea typeface="Calibri" pitchFamily="34" charset="-122"/>
                <a:cs typeface="Calibri" pitchFamily="34" charset="-120"/>
              </a:rPr>
              <a:t>picks</a:t>
            </a:r>
            <a:endParaRPr lang="en-US" sz="1400" dirty="0"/>
          </a:p>
        </p:txBody>
      </p:sp>
      <p:sp>
        <p:nvSpPr>
          <p:cNvPr id="19" name="Text 17"/>
          <p:cNvSpPr/>
          <p:nvPr/>
        </p:nvSpPr>
        <p:spPr>
          <a:xfrm>
            <a:off x="640080" y="6263640"/>
            <a:ext cx="10607040" cy="365760"/>
          </a:xfrm>
          <a:prstGeom prst="rect">
            <a:avLst/>
          </a:prstGeom>
          <a:noFill/>
          <a:ln/>
        </p:spPr>
        <p:txBody>
          <a:bodyPr wrap="square" lIns="0" tIns="0" rIns="0" bIns="0" rtlCol="0" anchor="ctr"/>
          <a:lstStyle/>
          <a:p>
            <a:pPr indent="0" marL="0">
              <a:buNone/>
            </a:pPr>
            <a:r>
              <a:rPr lang="en-US" sz="1600" i="1" dirty="0">
                <a:solidFill>
                  <a:srgbClr val="F5A623"/>
                </a:solidFill>
                <a:latin typeface="Calibri" pitchFamily="34" charset="0"/>
                <a:ea typeface="Calibri" pitchFamily="34" charset="-122"/>
                <a:cs typeface="Calibri" pitchFamily="34" charset="-120"/>
              </a:rPr>
              <a:t>Every step is a filter we can explain. Two of them we had to rebuild first.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0F2E"/>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WHY THESE FILTERS · 1 OF 2</a:t>
            </a:r>
            <a:endParaRPr lang="en-US" sz="13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The first model put shovelware at the top</a:t>
            </a:r>
            <a:endParaRPr lang="en-US" sz="3800" dirty="0"/>
          </a:p>
        </p:txBody>
      </p:sp>
      <p:sp>
        <p:nvSpPr>
          <p:cNvPr id="4" name="Shape 2"/>
          <p:cNvSpPr/>
          <p:nvPr/>
        </p:nvSpPr>
        <p:spPr>
          <a:xfrm>
            <a:off x="640080" y="1920240"/>
            <a:ext cx="4114800" cy="4297680"/>
          </a:xfrm>
          <a:prstGeom prst="roundRect">
            <a:avLst>
              <a:gd name="adj" fmla="val 2667"/>
            </a:avLst>
          </a:prstGeom>
          <a:solidFill>
            <a:srgbClr val="1F1540"/>
          </a:solidFill>
          <a:ln w="12700">
            <a:solidFill>
              <a:srgbClr val="E2607A"/>
            </a:solidFill>
            <a:prstDash val="solid"/>
          </a:ln>
        </p:spPr>
      </p:sp>
      <p:sp>
        <p:nvSpPr>
          <p:cNvPr id="5" name="Text 3"/>
          <p:cNvSpPr/>
          <p:nvPr/>
        </p:nvSpPr>
        <p:spPr>
          <a:xfrm>
            <a:off x="914400" y="2148840"/>
            <a:ext cx="3566160" cy="365760"/>
          </a:xfrm>
          <a:prstGeom prst="rect">
            <a:avLst/>
          </a:prstGeom>
          <a:noFill/>
          <a:ln/>
        </p:spPr>
        <p:txBody>
          <a:bodyPr wrap="square" lIns="0" tIns="0" rIns="0" bIns="0" rtlCol="0" anchor="ctr"/>
          <a:lstStyle/>
          <a:p>
            <a:pPr indent="0" marL="0">
              <a:buNone/>
            </a:pPr>
            <a:r>
              <a:rPr lang="en-US" sz="1400" b="1" dirty="0">
                <a:solidFill>
                  <a:srgbClr val="E2607A"/>
                </a:solidFill>
                <a:latin typeface="Calibri" pitchFamily="34" charset="0"/>
                <a:ea typeface="Calibri" pitchFamily="34" charset="-122"/>
                <a:cs typeface="Calibri" pitchFamily="34" charset="-120"/>
              </a:rPr>
              <a:t>What it ranked #1</a:t>
            </a:r>
            <a:endParaRPr lang="en-US" sz="1400" dirty="0"/>
          </a:p>
        </p:txBody>
      </p:sp>
      <p:sp>
        <p:nvSpPr>
          <p:cNvPr id="6" name="Text 4"/>
          <p:cNvSpPr/>
          <p:nvPr/>
        </p:nvSpPr>
        <p:spPr>
          <a:xfrm>
            <a:off x="914400" y="2651760"/>
            <a:ext cx="3566160" cy="1371600"/>
          </a:xfrm>
          <a:prstGeom prst="rect">
            <a:avLst/>
          </a:prstGeom>
          <a:noFill/>
          <a:ln/>
        </p:spPr>
        <p:txBody>
          <a:bodyPr wrap="square" lIns="0" tIns="0" rIns="0" bIns="0" rtlCol="0" anchor="ctr"/>
          <a:lstStyle/>
          <a:p>
            <a:pPr marL="342900" indent="-342900">
              <a:spcAft>
                <a:spcPts val="800"/>
              </a:spcAft>
              <a:buSzPct val="100000"/>
              <a:buChar char="•"/>
            </a:pPr>
            <a:r>
              <a:rPr lang="en-US" sz="1900" dirty="0">
                <a:solidFill>
                  <a:srgbClr val="FFFFFF"/>
                </a:solidFill>
                <a:latin typeface="Calibri" pitchFamily="34" charset="0"/>
                <a:ea typeface="Calibri" pitchFamily="34" charset="-122"/>
                <a:cs typeface="Calibri" pitchFamily="34" charset="-120"/>
              </a:rPr>
              <a:t>The Confession</a:t>
            </a:r>
            <a:endParaRPr lang="en-US" sz="1900" dirty="0"/>
          </a:p>
          <a:p>
            <a:pPr marL="342900" indent="-342900">
              <a:spcAft>
                <a:spcPts val="800"/>
              </a:spcAft>
              <a:buSzPct val="100000"/>
              <a:buChar char="•"/>
            </a:pPr>
            <a:r>
              <a:rPr lang="en-US" sz="1900" dirty="0">
                <a:solidFill>
                  <a:srgbClr val="FFFFFF"/>
                </a:solidFill>
                <a:latin typeface="Calibri" pitchFamily="34" charset="0"/>
                <a:ea typeface="Calibri" pitchFamily="34" charset="-122"/>
                <a:cs typeface="Calibri" pitchFamily="34" charset="-120"/>
              </a:rPr>
              <a:t>The Horrorscope</a:t>
            </a:r>
            <a:endParaRPr lang="en-US" sz="1900" dirty="0"/>
          </a:p>
          <a:p>
            <a:pPr marL="342900" indent="-342900">
              <a:spcAft>
                <a:spcPts val="800"/>
              </a:spcAft>
              <a:buSzPct val="100000"/>
              <a:buChar char="•"/>
            </a:pPr>
            <a:r>
              <a:rPr lang="en-US" sz="1900" dirty="0">
                <a:solidFill>
                  <a:srgbClr val="FFFFFF"/>
                </a:solidFill>
                <a:latin typeface="Calibri" pitchFamily="34" charset="0"/>
                <a:ea typeface="Calibri" pitchFamily="34" charset="-122"/>
                <a:cs typeface="Calibri" pitchFamily="34" charset="-120"/>
              </a:rPr>
              <a:t>BBQ Simulator</a:t>
            </a:r>
            <a:endParaRPr lang="en-US" sz="1900" dirty="0"/>
          </a:p>
        </p:txBody>
      </p:sp>
      <p:sp>
        <p:nvSpPr>
          <p:cNvPr id="7" name="Text 5"/>
          <p:cNvSpPr/>
          <p:nvPr/>
        </p:nvSpPr>
        <p:spPr>
          <a:xfrm>
            <a:off x="914400" y="5166360"/>
            <a:ext cx="3566160" cy="822960"/>
          </a:xfrm>
          <a:prstGeom prst="rect">
            <a:avLst/>
          </a:prstGeom>
          <a:noFill/>
          <a:ln/>
        </p:spPr>
        <p:txBody>
          <a:bodyPr wrap="square" lIns="0" tIns="0" rIns="0" bIns="0" rtlCol="0" anchor="ctr"/>
          <a:lstStyle/>
          <a:p>
            <a:pPr indent="0" marL="0">
              <a:buNone/>
            </a:pPr>
            <a:r>
              <a:rPr lang="en-US" sz="1400" i="1" dirty="0">
                <a:solidFill>
                  <a:srgbClr val="B0A4D6"/>
                </a:solidFill>
                <a:latin typeface="Calibri" pitchFamily="34" charset="0"/>
                <a:ea typeface="Calibri" pitchFamily="34" charset="-122"/>
                <a:cs typeface="Calibri" pitchFamily="34" charset="-120"/>
              </a:rPr>
              <a:t>Not a ranking wobble. The model working exactly as specified.</a:t>
            </a:r>
            <a:endParaRPr lang="en-US" sz="1400" dirty="0"/>
          </a:p>
        </p:txBody>
      </p:sp>
      <p:sp>
        <p:nvSpPr>
          <p:cNvPr id="8" name="Shape 6"/>
          <p:cNvSpPr/>
          <p:nvPr/>
        </p:nvSpPr>
        <p:spPr>
          <a:xfrm>
            <a:off x="5029200" y="1920240"/>
            <a:ext cx="6492240" cy="1508760"/>
          </a:xfrm>
          <a:prstGeom prst="roundRect">
            <a:avLst>
              <a:gd name="adj" fmla="val 7273"/>
            </a:avLst>
          </a:prstGeom>
          <a:solidFill>
            <a:srgbClr val="271B4D"/>
          </a:solidFill>
          <a:ln w="12700">
            <a:solidFill>
              <a:srgbClr val="271B4D"/>
            </a:solidFill>
            <a:prstDash val="solid"/>
          </a:ln>
        </p:spPr>
      </p:sp>
      <p:sp>
        <p:nvSpPr>
          <p:cNvPr id="9" name="Text 7"/>
          <p:cNvSpPr/>
          <p:nvPr/>
        </p:nvSpPr>
        <p:spPr>
          <a:xfrm>
            <a:off x="5349240" y="2084832"/>
            <a:ext cx="5852160" cy="365760"/>
          </a:xfrm>
          <a:prstGeom prst="rect">
            <a:avLst/>
          </a:prstGeom>
          <a:noFill/>
          <a:ln/>
        </p:spPr>
        <p:txBody>
          <a:bodyPr wrap="square" lIns="0" tIns="0" rIns="0" bIns="0" rtlCol="0" anchor="ctr"/>
          <a:lstStyle/>
          <a:p>
            <a:pPr indent="0" marL="0">
              <a:buNone/>
            </a:pPr>
            <a:r>
              <a:rPr lang="en-US" sz="1800" b="1" dirty="0">
                <a:solidFill>
                  <a:srgbClr val="F5A623"/>
                </a:solidFill>
                <a:latin typeface="Calibri" pitchFamily="34" charset="0"/>
                <a:ea typeface="Calibri" pitchFamily="34" charset="-122"/>
                <a:cs typeface="Calibri" pitchFamily="34" charset="-120"/>
              </a:rPr>
              <a:t>Recognition cancelled itself out</a:t>
            </a:r>
            <a:endParaRPr lang="en-US" sz="1800" dirty="0"/>
          </a:p>
        </p:txBody>
      </p:sp>
      <p:sp>
        <p:nvSpPr>
          <p:cNvPr id="10" name="Text 8"/>
          <p:cNvSpPr/>
          <p:nvPr/>
        </p:nvSpPr>
        <p:spPr>
          <a:xfrm>
            <a:off x="5349240" y="2487168"/>
            <a:ext cx="5897880" cy="822960"/>
          </a:xfrm>
          <a:prstGeom prst="rect">
            <a:avLst/>
          </a:prstGeom>
          <a:noFill/>
          <a:ln/>
        </p:spPr>
        <p:txBody>
          <a:bodyPr wrap="square" lIns="0" tIns="0" rIns="0" bIns="0" rtlCol="0" anchor="ctr"/>
          <a:lstStyle/>
          <a:p>
            <a:pPr indent="0" marL="0">
              <a:lnSpc>
                <a:spcPts val="1700"/>
              </a:lnSpc>
              <a:buNone/>
            </a:pPr>
            <a:r>
              <a:rPr lang="en-US" sz="1350" dirty="0">
                <a:solidFill>
                  <a:srgbClr val="B0A4D6"/>
                </a:solidFill>
                <a:latin typeface="Calibri" pitchFamily="34" charset="0"/>
                <a:ea typeface="Calibri" pitchFamily="34" charset="-122"/>
                <a:cs typeface="Calibri" pitchFamily="34" charset="-120"/>
              </a:rPr>
              <a:t>Two pillars pulled in opposite directions and were averaged. Their contribution became near-constant, so neither moved the ranking. The brief's central idea was not encoded — it was annihilated.</a:t>
            </a:r>
            <a:endParaRPr lang="en-US" sz="1350" dirty="0"/>
          </a:p>
        </p:txBody>
      </p:sp>
      <p:sp>
        <p:nvSpPr>
          <p:cNvPr id="11" name="Shape 9"/>
          <p:cNvSpPr/>
          <p:nvPr/>
        </p:nvSpPr>
        <p:spPr>
          <a:xfrm>
            <a:off x="5029200" y="3611880"/>
            <a:ext cx="6492240" cy="1508760"/>
          </a:xfrm>
          <a:prstGeom prst="roundRect">
            <a:avLst>
              <a:gd name="adj" fmla="val 7273"/>
            </a:avLst>
          </a:prstGeom>
          <a:solidFill>
            <a:srgbClr val="271B4D"/>
          </a:solidFill>
          <a:ln w="12700">
            <a:solidFill>
              <a:srgbClr val="271B4D"/>
            </a:solidFill>
            <a:prstDash val="solid"/>
          </a:ln>
        </p:spPr>
      </p:sp>
      <p:sp>
        <p:nvSpPr>
          <p:cNvPr id="12" name="Text 10"/>
          <p:cNvSpPr/>
          <p:nvPr/>
        </p:nvSpPr>
        <p:spPr>
          <a:xfrm>
            <a:off x="5349240" y="3776472"/>
            <a:ext cx="5852160" cy="365760"/>
          </a:xfrm>
          <a:prstGeom prst="rect">
            <a:avLst/>
          </a:prstGeom>
          <a:noFill/>
          <a:ln/>
        </p:spPr>
        <p:txBody>
          <a:bodyPr wrap="square" lIns="0" tIns="0" rIns="0" bIns="0" rtlCol="0" anchor="ctr"/>
          <a:lstStyle/>
          <a:p>
            <a:pPr indent="0" marL="0">
              <a:buNone/>
            </a:pPr>
            <a:r>
              <a:rPr lang="en-US" sz="1800" b="1" dirty="0">
                <a:solidFill>
                  <a:srgbClr val="F5A623"/>
                </a:solidFill>
                <a:latin typeface="Calibri" pitchFamily="34" charset="0"/>
                <a:ea typeface="Calibri" pitchFamily="34" charset="-122"/>
                <a:cs typeface="Calibri" pitchFamily="34" charset="-120"/>
              </a:rPr>
              <a:t>“Cheap” was a budget filter</a:t>
            </a:r>
            <a:endParaRPr lang="en-US" sz="1800" dirty="0"/>
          </a:p>
        </p:txBody>
      </p:sp>
      <p:sp>
        <p:nvSpPr>
          <p:cNvPr id="13" name="Text 11"/>
          <p:cNvSpPr/>
          <p:nvPr/>
        </p:nvSpPr>
        <p:spPr>
          <a:xfrm>
            <a:off x="5349240" y="4178808"/>
            <a:ext cx="5897880" cy="822960"/>
          </a:xfrm>
          <a:prstGeom prst="rect">
            <a:avLst/>
          </a:prstGeom>
          <a:noFill/>
          <a:ln/>
        </p:spPr>
        <p:txBody>
          <a:bodyPr wrap="square" lIns="0" tIns="0" rIns="0" bIns="0" rtlCol="0" anchor="ctr"/>
          <a:lstStyle/>
          <a:p>
            <a:pPr indent="0" marL="0">
              <a:lnSpc>
                <a:spcPts val="1700"/>
              </a:lnSpc>
              <a:buNone/>
            </a:pPr>
            <a:r>
              <a:rPr lang="en-US" sz="1350" dirty="0">
                <a:solidFill>
                  <a:srgbClr val="B0A4D6"/>
                </a:solidFill>
                <a:latin typeface="Calibri" pitchFamily="34" charset="0"/>
                <a:ea typeface="Calibri" pitchFamily="34" charset="-122"/>
                <a:cs typeface="Calibri" pitchFamily="34" charset="-120"/>
              </a:rPr>
              <a:t>Retail price tracks production budget and press coverage. Ranking on low price ranks on the absence of both. The pillar was a quality penalty wearing a cost label.</a:t>
            </a:r>
            <a:endParaRPr lang="en-US" sz="1350" dirty="0"/>
          </a:p>
        </p:txBody>
      </p:sp>
      <p:sp>
        <p:nvSpPr>
          <p:cNvPr id="14" name="Shape 12"/>
          <p:cNvSpPr/>
          <p:nvPr/>
        </p:nvSpPr>
        <p:spPr>
          <a:xfrm>
            <a:off x="5029200" y="5303520"/>
            <a:ext cx="6492240" cy="914400"/>
          </a:xfrm>
          <a:prstGeom prst="roundRect">
            <a:avLst>
              <a:gd name="adj" fmla="val 12000"/>
            </a:avLst>
          </a:prstGeom>
          <a:solidFill>
            <a:srgbClr val="0E2A22"/>
          </a:solidFill>
          <a:ln w="12700">
            <a:solidFill>
              <a:srgbClr val="41D6A8"/>
            </a:solidFill>
            <a:prstDash val="solid"/>
          </a:ln>
        </p:spPr>
      </p:sp>
      <p:sp>
        <p:nvSpPr>
          <p:cNvPr id="15" name="Text 13"/>
          <p:cNvSpPr/>
          <p:nvPr/>
        </p:nvSpPr>
        <p:spPr>
          <a:xfrm>
            <a:off x="5349240" y="5303520"/>
            <a:ext cx="5897880" cy="914400"/>
          </a:xfrm>
          <a:prstGeom prst="rect">
            <a:avLst/>
          </a:prstGeom>
          <a:noFill/>
          <a:ln/>
        </p:spPr>
        <p:txBody>
          <a:bodyPr wrap="square" lIns="0" tIns="0" rIns="0" bIns="0" rtlCol="0" anchor="ctr"/>
          <a:lstStyle/>
          <a:p>
            <a:pPr indent="0" marL="0">
              <a:lnSpc>
                <a:spcPts val="1900"/>
              </a:lnSpc>
              <a:buNone/>
            </a:pPr>
            <a:r>
              <a:rPr lang="en-US" sz="1500" b="1" dirty="0">
                <a:solidFill>
                  <a:srgbClr val="41D6A8"/>
                </a:solidFill>
                <a:latin typeface="Calibri" pitchFamily="34" charset="0"/>
                <a:ea typeface="Calibri" pitchFamily="34" charset="-122"/>
                <a:cs typeface="Calibri" pitchFamily="34" charset="-120"/>
              </a:rPr>
              <a:t>Rebuilt: one recognition term, one headroom ratio — and price removed from the score entirely.</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0F2E"/>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WHY THESE FILTERS · 2 OF 2</a:t>
            </a:r>
            <a:endParaRPr lang="en-US" sz="13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Then the indie test failed at both ends</a:t>
            </a:r>
            <a:endParaRPr lang="en-US" sz="3800" dirty="0"/>
          </a:p>
        </p:txBody>
      </p:sp>
      <p:sp>
        <p:nvSpPr>
          <p:cNvPr id="4" name="Text 2"/>
          <p:cNvSpPr/>
          <p:nvPr/>
        </p:nvSpPr>
        <p:spPr>
          <a:xfrm>
            <a:off x="640080" y="1737360"/>
            <a:ext cx="10881360" cy="365760"/>
          </a:xfrm>
          <a:prstGeom prst="rect">
            <a:avLst/>
          </a:prstGeom>
          <a:noFill/>
          <a:ln/>
        </p:spPr>
        <p:txBody>
          <a:bodyPr wrap="square" lIns="0" tIns="0" rIns="0" bIns="0" rtlCol="0" anchor="ctr"/>
          <a:lstStyle/>
          <a:p>
            <a:pPr indent="0" marL="0">
              <a:buNone/>
            </a:pPr>
            <a:r>
              <a:rPr lang="en-US" sz="1700" i="1" dirty="0">
                <a:solidFill>
                  <a:srgbClr val="B0A4D6"/>
                </a:solidFill>
                <a:latin typeface="Calibri" pitchFamily="34" charset="0"/>
                <a:ea typeface="Calibri" pitchFamily="34" charset="-122"/>
                <a:cs typeface="Calibri" pitchFamily="34" charset="-120"/>
              </a:rPr>
              <a:t>The rule was: developer must equal publisher.</a:t>
            </a:r>
            <a:endParaRPr lang="en-US" sz="1700" dirty="0"/>
          </a:p>
        </p:txBody>
      </p:sp>
      <p:sp>
        <p:nvSpPr>
          <p:cNvPr id="5" name="Shape 3"/>
          <p:cNvSpPr/>
          <p:nvPr/>
        </p:nvSpPr>
        <p:spPr>
          <a:xfrm>
            <a:off x="640080" y="2286000"/>
            <a:ext cx="5349240" cy="2651760"/>
          </a:xfrm>
          <a:prstGeom prst="roundRect">
            <a:avLst>
              <a:gd name="adj" fmla="val 4138"/>
            </a:avLst>
          </a:prstGeom>
          <a:solidFill>
            <a:srgbClr val="1F1540"/>
          </a:solidFill>
          <a:ln w="12700">
            <a:solidFill>
              <a:srgbClr val="E2607A"/>
            </a:solidFill>
            <a:prstDash val="solid"/>
          </a:ln>
        </p:spPr>
      </p:sp>
      <p:sp>
        <p:nvSpPr>
          <p:cNvPr id="6" name="Text 4"/>
          <p:cNvSpPr/>
          <p:nvPr/>
        </p:nvSpPr>
        <p:spPr>
          <a:xfrm>
            <a:off x="914400" y="2487168"/>
            <a:ext cx="4754880" cy="365760"/>
          </a:xfrm>
          <a:prstGeom prst="rect">
            <a:avLst/>
          </a:prstGeom>
          <a:noFill/>
          <a:ln/>
        </p:spPr>
        <p:txBody>
          <a:bodyPr wrap="square" lIns="0" tIns="0" rIns="0" bIns="0" rtlCol="0" anchor="ctr"/>
          <a:lstStyle/>
          <a:p>
            <a:pPr indent="0" marL="0">
              <a:buNone/>
            </a:pPr>
            <a:r>
              <a:rPr lang="en-US" sz="1500" b="1" dirty="0">
                <a:solidFill>
                  <a:srgbClr val="E2607A"/>
                </a:solidFill>
                <a:latin typeface="Calibri" pitchFamily="34" charset="0"/>
                <a:ea typeface="Calibri" pitchFamily="34" charset="-122"/>
                <a:cs typeface="Calibri" pitchFamily="34" charset="-120"/>
              </a:rPr>
              <a:t>Thrown out as “not indie”</a:t>
            </a:r>
            <a:endParaRPr lang="en-US" sz="1500" dirty="0"/>
          </a:p>
        </p:txBody>
      </p:sp>
      <p:sp>
        <p:nvSpPr>
          <p:cNvPr id="7" name="Text 5"/>
          <p:cNvSpPr/>
          <p:nvPr/>
        </p:nvSpPr>
        <p:spPr>
          <a:xfrm>
            <a:off x="914400" y="2944368"/>
            <a:ext cx="4754880" cy="1371600"/>
          </a:xfrm>
          <a:prstGeom prst="rect">
            <a:avLst/>
          </a:prstGeom>
          <a:noFill/>
          <a:ln/>
        </p:spPr>
        <p:txBody>
          <a:bodyPr wrap="square" lIns="0" tIns="0" rIns="0" bIns="0" rtlCol="0" anchor="ctr"/>
          <a:lstStyle/>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Papers, Please</a:t>
            </a:r>
            <a:endParaRPr lang="en-US" sz="1700" dirty="0"/>
          </a:p>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Return of the Obra Dinn</a:t>
            </a:r>
            <a:endParaRPr lang="en-US" sz="1700" dirty="0"/>
          </a:p>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What Remains of Edith Finch</a:t>
            </a:r>
            <a:endParaRPr lang="en-US" sz="1700" dirty="0"/>
          </a:p>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Journey</a:t>
            </a:r>
            <a:endParaRPr lang="en-US" sz="1700" dirty="0"/>
          </a:p>
        </p:txBody>
      </p:sp>
      <p:sp>
        <p:nvSpPr>
          <p:cNvPr id="8" name="Text 6"/>
          <p:cNvSpPr/>
          <p:nvPr/>
        </p:nvSpPr>
        <p:spPr>
          <a:xfrm>
            <a:off x="914400" y="4315968"/>
            <a:ext cx="4754880" cy="548640"/>
          </a:xfrm>
          <a:prstGeom prst="rect">
            <a:avLst/>
          </a:prstGeom>
          <a:noFill/>
          <a:ln/>
        </p:spPr>
        <p:txBody>
          <a:bodyPr wrap="square" lIns="0" tIns="0" rIns="0" bIns="0" rtlCol="0" anchor="ctr"/>
          <a:lstStyle/>
          <a:p>
            <a:pPr indent="0" marL="0">
              <a:lnSpc>
                <a:spcPts val="1700"/>
              </a:lnSpc>
              <a:buNone/>
            </a:pPr>
            <a:r>
              <a:rPr lang="en-US" sz="1300" i="1" dirty="0">
                <a:solidFill>
                  <a:srgbClr val="B0A4D6"/>
                </a:solidFill>
                <a:latin typeface="Calibri" pitchFamily="34" charset="0"/>
                <a:ea typeface="Calibri" pitchFamily="34" charset="-122"/>
                <a:cs typeface="Calibri" pitchFamily="34" charset="-120"/>
              </a:rPr>
              <a:t>Lucas Pope's own label is spelled “3909”. A name mismatch, not a signal.</a:t>
            </a:r>
            <a:endParaRPr lang="en-US" sz="1300" dirty="0"/>
          </a:p>
        </p:txBody>
      </p:sp>
      <p:sp>
        <p:nvSpPr>
          <p:cNvPr id="9" name="Shape 7"/>
          <p:cNvSpPr/>
          <p:nvPr/>
        </p:nvSpPr>
        <p:spPr>
          <a:xfrm>
            <a:off x="6172200" y="2286000"/>
            <a:ext cx="5349240" cy="2651760"/>
          </a:xfrm>
          <a:prstGeom prst="roundRect">
            <a:avLst>
              <a:gd name="adj" fmla="val 4138"/>
            </a:avLst>
          </a:prstGeom>
          <a:solidFill>
            <a:srgbClr val="1F1540"/>
          </a:solidFill>
          <a:ln w="12700">
            <a:solidFill>
              <a:srgbClr val="E2607A"/>
            </a:solidFill>
            <a:prstDash val="solid"/>
          </a:ln>
        </p:spPr>
      </p:sp>
      <p:sp>
        <p:nvSpPr>
          <p:cNvPr id="10" name="Text 8"/>
          <p:cNvSpPr/>
          <p:nvPr/>
        </p:nvSpPr>
        <p:spPr>
          <a:xfrm>
            <a:off x="6446520" y="2487168"/>
            <a:ext cx="4754880" cy="365760"/>
          </a:xfrm>
          <a:prstGeom prst="rect">
            <a:avLst/>
          </a:prstGeom>
          <a:noFill/>
          <a:ln/>
        </p:spPr>
        <p:txBody>
          <a:bodyPr wrap="square" lIns="0" tIns="0" rIns="0" bIns="0" rtlCol="0" anchor="ctr"/>
          <a:lstStyle/>
          <a:p>
            <a:pPr indent="0" marL="0">
              <a:buNone/>
            </a:pPr>
            <a:r>
              <a:rPr lang="en-US" sz="1500" b="1" dirty="0">
                <a:solidFill>
                  <a:srgbClr val="E2607A"/>
                </a:solidFill>
                <a:latin typeface="Calibri" pitchFamily="34" charset="0"/>
                <a:ea typeface="Calibri" pitchFamily="34" charset="-122"/>
                <a:cs typeface="Calibri" pitchFamily="34" charset="-120"/>
              </a:rPr>
              <a:t>Waved in as “indie”</a:t>
            </a:r>
            <a:endParaRPr lang="en-US" sz="1500" dirty="0"/>
          </a:p>
        </p:txBody>
      </p:sp>
      <p:sp>
        <p:nvSpPr>
          <p:cNvPr id="11" name="Text 9"/>
          <p:cNvSpPr/>
          <p:nvPr/>
        </p:nvSpPr>
        <p:spPr>
          <a:xfrm>
            <a:off x="6446520" y="2944368"/>
            <a:ext cx="4754880" cy="1371600"/>
          </a:xfrm>
          <a:prstGeom prst="rect">
            <a:avLst/>
          </a:prstGeom>
          <a:noFill/>
          <a:ln/>
        </p:spPr>
        <p:txBody>
          <a:bodyPr wrap="square" lIns="0" tIns="0" rIns="0" bIns="0" rtlCol="0" anchor="ctr"/>
          <a:lstStyle/>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An asset-flip mill with 181 titles</a:t>
            </a:r>
            <a:endParaRPr lang="en-US" sz="1700" dirty="0"/>
          </a:p>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Another with 163</a:t>
            </a:r>
            <a:endParaRPr lang="en-US" sz="1700" dirty="0"/>
          </a:p>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Another with 130</a:t>
            </a:r>
            <a:endParaRPr lang="en-US" sz="1700" dirty="0"/>
          </a:p>
          <a:p>
            <a:pPr marL="342900" indent="-342900">
              <a:spcAft>
                <a:spcPts val="600"/>
              </a:spcAft>
              <a:buSzPct val="100000"/>
              <a:buChar char="•"/>
            </a:pPr>
            <a:r>
              <a:rPr lang="en-US" sz="1700" dirty="0">
                <a:solidFill>
                  <a:srgbClr val="FFFFFF"/>
                </a:solidFill>
                <a:latin typeface="Calibri" pitchFamily="34" charset="0"/>
                <a:ea typeface="Calibri" pitchFamily="34" charset="-122"/>
                <a:cs typeface="Calibri" pitchFamily="34" charset="-120"/>
              </a:rPr>
              <a:t>…and two more like them</a:t>
            </a:r>
            <a:endParaRPr lang="en-US" sz="1700" dirty="0"/>
          </a:p>
        </p:txBody>
      </p:sp>
      <p:sp>
        <p:nvSpPr>
          <p:cNvPr id="12" name="Text 10"/>
          <p:cNvSpPr/>
          <p:nvPr/>
        </p:nvSpPr>
        <p:spPr>
          <a:xfrm>
            <a:off x="6446520" y="4315968"/>
            <a:ext cx="4754880" cy="548640"/>
          </a:xfrm>
          <a:prstGeom prst="rect">
            <a:avLst/>
          </a:prstGeom>
          <a:noFill/>
          <a:ln/>
        </p:spPr>
        <p:txBody>
          <a:bodyPr wrap="square" lIns="0" tIns="0" rIns="0" bIns="0" rtlCol="0" anchor="ctr"/>
          <a:lstStyle/>
          <a:p>
            <a:pPr indent="0" marL="0">
              <a:lnSpc>
                <a:spcPts val="1700"/>
              </a:lnSpc>
              <a:buNone/>
            </a:pPr>
            <a:r>
              <a:rPr lang="en-US" sz="1300" i="1" dirty="0">
                <a:solidFill>
                  <a:srgbClr val="B0A4D6"/>
                </a:solidFill>
                <a:latin typeface="Calibri" pitchFamily="34" charset="0"/>
                <a:ea typeface="Calibri" pitchFamily="34" charset="-122"/>
                <a:cs typeface="Calibri" pitchFamily="34" charset="-120"/>
              </a:rPr>
              <a:t>Mills self-publish. So the rule read them as independent studios.</a:t>
            </a:r>
            <a:endParaRPr lang="en-US" sz="1300" dirty="0"/>
          </a:p>
        </p:txBody>
      </p:sp>
      <p:sp>
        <p:nvSpPr>
          <p:cNvPr id="13" name="Shape 11"/>
          <p:cNvSpPr/>
          <p:nvPr/>
        </p:nvSpPr>
        <p:spPr>
          <a:xfrm>
            <a:off x="640080" y="5212080"/>
            <a:ext cx="10881360" cy="1005840"/>
          </a:xfrm>
          <a:prstGeom prst="roundRect">
            <a:avLst>
              <a:gd name="adj" fmla="val 10909"/>
            </a:avLst>
          </a:prstGeom>
          <a:solidFill>
            <a:srgbClr val="0E2A22"/>
          </a:solidFill>
          <a:ln w="12700">
            <a:solidFill>
              <a:srgbClr val="41D6A8"/>
            </a:solidFill>
            <a:prstDash val="solid"/>
          </a:ln>
        </p:spPr>
      </p:sp>
      <p:sp>
        <p:nvSpPr>
          <p:cNvPr id="14" name="Text 12"/>
          <p:cNvSpPr/>
          <p:nvPr/>
        </p:nvSpPr>
        <p:spPr>
          <a:xfrm>
            <a:off x="960120" y="5212080"/>
            <a:ext cx="10241280" cy="1005840"/>
          </a:xfrm>
          <a:prstGeom prst="rect">
            <a:avLst/>
          </a:prstGeom>
          <a:noFill/>
          <a:ln/>
        </p:spPr>
        <p:txBody>
          <a:bodyPr wrap="square" lIns="0" tIns="0" rIns="0" bIns="0" rtlCol="0" anchor="ctr"/>
          <a:lstStyle/>
          <a:p>
            <a:pPr indent="0" marL="0">
              <a:lnSpc>
                <a:spcPts val="2000"/>
              </a:lnSpc>
              <a:buNone/>
            </a:pPr>
            <a:r>
              <a:rPr lang="en-US" sz="1600" b="1" dirty="0">
                <a:solidFill>
                  <a:srgbClr val="41D6A8"/>
                </a:solidFill>
                <a:latin typeface="Calibri" pitchFamily="34" charset="0"/>
                <a:ea typeface="Calibri" pitchFamily="34" charset="-122"/>
                <a:cs typeface="Calibri" pitchFamily="34" charset="-120"/>
              </a:rPr>
              <a:t>Rebuilt: indie means a small developer, not a missing publisher — then hand-checked, name by name, at both ends.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0F2E"/>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THE INVESTMENT IDEA</a:t>
            </a:r>
            <a:endParaRPr lang="en-US" sz="13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A subscription buys slots, not owners</a:t>
            </a:r>
            <a:endParaRPr lang="en-US" sz="3800" dirty="0"/>
          </a:p>
        </p:txBody>
      </p:sp>
      <p:sp>
        <p:nvSpPr>
          <p:cNvPr id="4" name="Shape 2"/>
          <p:cNvSpPr/>
          <p:nvPr/>
        </p:nvSpPr>
        <p:spPr>
          <a:xfrm>
            <a:off x="822960" y="2148840"/>
            <a:ext cx="4937760" cy="3017520"/>
          </a:xfrm>
          <a:prstGeom prst="roundRect">
            <a:avLst>
              <a:gd name="adj" fmla="val 3636"/>
            </a:avLst>
          </a:prstGeom>
          <a:solidFill>
            <a:srgbClr val="1F1540"/>
          </a:solidFill>
          <a:ln w="12700">
            <a:solidFill>
              <a:srgbClr val="4A3060"/>
            </a:solidFill>
            <a:prstDash val="solid"/>
          </a:ln>
        </p:spPr>
      </p:sp>
      <p:sp>
        <p:nvSpPr>
          <p:cNvPr id="5" name="Text 3"/>
          <p:cNvSpPr/>
          <p:nvPr/>
        </p:nvSpPr>
        <p:spPr>
          <a:xfrm>
            <a:off x="1143000" y="2377440"/>
            <a:ext cx="4297680" cy="365760"/>
          </a:xfrm>
          <a:prstGeom prst="rect">
            <a:avLst/>
          </a:prstGeom>
          <a:noFill/>
          <a:ln/>
        </p:spPr>
        <p:txBody>
          <a:bodyPr wrap="square" lIns="0" tIns="0" rIns="0" bIns="0" rtlCol="0" anchor="ctr"/>
          <a:lstStyle/>
          <a:p>
            <a:pPr indent="0" marL="0">
              <a:buNone/>
            </a:pPr>
            <a:r>
              <a:rPr lang="en-US" sz="1700" b="1" dirty="0">
                <a:solidFill>
                  <a:srgbClr val="B0A4D6"/>
                </a:solidFill>
                <a:latin typeface="Calibri" pitchFamily="34" charset="0"/>
                <a:ea typeface="Calibri" pitchFamily="34" charset="-122"/>
                <a:cs typeface="Calibri" pitchFamily="34" charset="-120"/>
              </a:rPr>
              <a:t>Per owner reached</a:t>
            </a:r>
            <a:endParaRPr lang="en-US" sz="1700" dirty="0"/>
          </a:p>
        </p:txBody>
      </p:sp>
      <p:sp>
        <p:nvSpPr>
          <p:cNvPr id="6" name="Text 4"/>
          <p:cNvSpPr/>
          <p:nvPr/>
        </p:nvSpPr>
        <p:spPr>
          <a:xfrm>
            <a:off x="1143000" y="2788920"/>
            <a:ext cx="4297680" cy="1371600"/>
          </a:xfrm>
          <a:prstGeom prst="rect">
            <a:avLst/>
          </a:prstGeom>
          <a:noFill/>
          <a:ln/>
        </p:spPr>
        <p:txBody>
          <a:bodyPr wrap="square" lIns="0" tIns="0" rIns="0" bIns="0" rtlCol="0" anchor="ctr"/>
          <a:lstStyle/>
          <a:p>
            <a:pPr indent="0" marL="0">
              <a:buNone/>
            </a:pPr>
            <a:r>
              <a:rPr lang="en-US" sz="9000" b="1" dirty="0">
                <a:solidFill>
                  <a:srgbClr val="E2607A"/>
                </a:solidFill>
                <a:latin typeface="Cambria" pitchFamily="34" charset="0"/>
                <a:ea typeface="Cambria" pitchFamily="34" charset="-122"/>
                <a:cs typeface="Cambria" pitchFamily="34" charset="-120"/>
              </a:rPr>
              <a:t>1.50×</a:t>
            </a:r>
            <a:endParaRPr lang="en-US" sz="9000" dirty="0"/>
          </a:p>
        </p:txBody>
      </p:sp>
      <p:sp>
        <p:nvSpPr>
          <p:cNvPr id="7" name="Text 5"/>
          <p:cNvSpPr/>
          <p:nvPr/>
        </p:nvSpPr>
        <p:spPr>
          <a:xfrm>
            <a:off x="1143000" y="4206240"/>
            <a:ext cx="4297680" cy="822960"/>
          </a:xfrm>
          <a:prstGeom prst="rect">
            <a:avLst/>
          </a:prstGeom>
          <a:noFill/>
          <a:ln/>
        </p:spPr>
        <p:txBody>
          <a:bodyPr wrap="square" lIns="0" tIns="0" rIns="0" bIns="0" rtlCol="0" anchor="ctr"/>
          <a:lstStyle/>
          <a:p>
            <a:pPr indent="0" marL="0">
              <a:lnSpc>
                <a:spcPts val="2400"/>
              </a:lnSpc>
              <a:buNone/>
            </a:pPr>
            <a:r>
              <a:rPr lang="en-US" sz="1700" dirty="0">
                <a:solidFill>
                  <a:srgbClr val="FFFFFF"/>
                </a:solidFill>
                <a:latin typeface="Calibri" pitchFamily="34" charset="0"/>
                <a:ea typeface="Calibri" pitchFamily="34" charset="-122"/>
                <a:cs typeface="Calibri" pitchFamily="34" charset="-120"/>
              </a:rPr>
              <a:t>more expensive.</a:t>
            </a:r>
            <a:endParaRPr lang="en-US" sz="1700" dirty="0"/>
          </a:p>
          <a:p>
            <a:pPr indent="0" marL="0">
              <a:lnSpc>
                <a:spcPts val="2400"/>
              </a:lnSpc>
              <a:buNone/>
            </a:pPr>
            <a:r>
              <a:rPr lang="en-US" sz="1700" dirty="0">
                <a:solidFill>
                  <a:srgbClr val="FFFFFF"/>
                </a:solidFill>
                <a:latin typeface="Calibri" pitchFamily="34" charset="0"/>
                <a:ea typeface="Calibri" pitchFamily="34" charset="-122"/>
                <a:cs typeface="Calibri" pitchFamily="34" charset="-120"/>
              </a:rPr>
              <a:t>Indie loses this one, clearly.</a:t>
            </a:r>
            <a:endParaRPr lang="en-US" sz="1700" dirty="0"/>
          </a:p>
        </p:txBody>
      </p:sp>
      <p:sp>
        <p:nvSpPr>
          <p:cNvPr id="8" name="Shape 6"/>
          <p:cNvSpPr/>
          <p:nvPr/>
        </p:nvSpPr>
        <p:spPr>
          <a:xfrm>
            <a:off x="6400800" y="2148840"/>
            <a:ext cx="4937760" cy="3017520"/>
          </a:xfrm>
          <a:prstGeom prst="roundRect">
            <a:avLst>
              <a:gd name="adj" fmla="val 3636"/>
            </a:avLst>
          </a:prstGeom>
          <a:solidFill>
            <a:srgbClr val="3A2400"/>
          </a:solidFill>
          <a:ln w="12700">
            <a:solidFill>
              <a:srgbClr val="F5A623"/>
            </a:solidFill>
            <a:prstDash val="solid"/>
          </a:ln>
        </p:spPr>
      </p:sp>
      <p:sp>
        <p:nvSpPr>
          <p:cNvPr id="9" name="Text 7"/>
          <p:cNvSpPr/>
          <p:nvPr/>
        </p:nvSpPr>
        <p:spPr>
          <a:xfrm>
            <a:off x="6720840" y="2377440"/>
            <a:ext cx="4297680" cy="365760"/>
          </a:xfrm>
          <a:prstGeom prst="rect">
            <a:avLst/>
          </a:prstGeom>
          <a:noFill/>
          <a:ln/>
        </p:spPr>
        <p:txBody>
          <a:bodyPr wrap="square" lIns="0" tIns="0" rIns="0" bIns="0" rtlCol="0" anchor="ctr"/>
          <a:lstStyle/>
          <a:p>
            <a:pPr indent="0" marL="0">
              <a:buNone/>
            </a:pPr>
            <a:r>
              <a:rPr lang="en-US" sz="1700" b="1" dirty="0">
                <a:solidFill>
                  <a:srgbClr val="F5A623"/>
                </a:solidFill>
                <a:latin typeface="Calibri" pitchFamily="34" charset="0"/>
                <a:ea typeface="Calibri" pitchFamily="34" charset="-122"/>
                <a:cs typeface="Calibri" pitchFamily="34" charset="-120"/>
              </a:rPr>
              <a:t>Per catalogue slot</a:t>
            </a:r>
            <a:endParaRPr lang="en-US" sz="1700" dirty="0"/>
          </a:p>
        </p:txBody>
      </p:sp>
      <p:sp>
        <p:nvSpPr>
          <p:cNvPr id="10" name="Text 8"/>
          <p:cNvSpPr/>
          <p:nvPr/>
        </p:nvSpPr>
        <p:spPr>
          <a:xfrm>
            <a:off x="6720840" y="2788920"/>
            <a:ext cx="4297680" cy="1371600"/>
          </a:xfrm>
          <a:prstGeom prst="rect">
            <a:avLst/>
          </a:prstGeom>
          <a:noFill/>
          <a:ln/>
        </p:spPr>
        <p:txBody>
          <a:bodyPr wrap="square" lIns="0" tIns="0" rIns="0" bIns="0" rtlCol="0" anchor="ctr"/>
          <a:lstStyle/>
          <a:p>
            <a:pPr indent="0" marL="0">
              <a:buNone/>
            </a:pPr>
            <a:r>
              <a:rPr lang="en-US" sz="9000" b="1" dirty="0">
                <a:solidFill>
                  <a:srgbClr val="F5A623"/>
                </a:solidFill>
                <a:latin typeface="Cambria" pitchFamily="34" charset="0"/>
                <a:ea typeface="Cambria" pitchFamily="34" charset="-122"/>
                <a:cs typeface="Cambria" pitchFamily="34" charset="-120"/>
              </a:rPr>
              <a:t>1.53×</a:t>
            </a:r>
            <a:endParaRPr lang="en-US" sz="9000" dirty="0"/>
          </a:p>
        </p:txBody>
      </p:sp>
      <p:sp>
        <p:nvSpPr>
          <p:cNvPr id="11" name="Text 9"/>
          <p:cNvSpPr/>
          <p:nvPr/>
        </p:nvSpPr>
        <p:spPr>
          <a:xfrm>
            <a:off x="6720840" y="4206240"/>
            <a:ext cx="4389120" cy="822960"/>
          </a:xfrm>
          <a:prstGeom prst="rect">
            <a:avLst/>
          </a:prstGeom>
          <a:noFill/>
          <a:ln/>
        </p:spPr>
        <p:txBody>
          <a:bodyPr wrap="square" lIns="0" tIns="0" rIns="0" bIns="0" rtlCol="0" anchor="ctr"/>
          <a:lstStyle/>
          <a:p>
            <a:pPr indent="0" marL="0">
              <a:lnSpc>
                <a:spcPts val="2400"/>
              </a:lnSpc>
              <a:buNone/>
            </a:pPr>
            <a:r>
              <a:rPr lang="en-US" sz="1700" dirty="0">
                <a:solidFill>
                  <a:srgbClr val="FFFFFF"/>
                </a:solidFill>
                <a:latin typeface="Calibri" pitchFamily="34" charset="0"/>
                <a:ea typeface="Calibri" pitchFamily="34" charset="-122"/>
                <a:cs typeface="Calibri" pitchFamily="34" charset="-120"/>
              </a:rPr>
              <a:t>more breadth per dollar.</a:t>
            </a:r>
            <a:endParaRPr lang="en-US" sz="1700" dirty="0"/>
          </a:p>
          <a:p>
            <a:pPr indent="0" marL="0">
              <a:lnSpc>
                <a:spcPts val="2400"/>
              </a:lnSpc>
              <a:buNone/>
            </a:pPr>
            <a:r>
              <a:rPr lang="en-US" sz="1700" dirty="0">
                <a:solidFill>
                  <a:srgbClr val="FFFFFF"/>
                </a:solidFill>
                <a:latin typeface="Calibri" pitchFamily="34" charset="0"/>
                <a:ea typeface="Calibri" pitchFamily="34" charset="-122"/>
                <a:cs typeface="Calibri" pitchFamily="34" charset="-120"/>
              </a:rPr>
              <a:t>This is what a subscription buys.</a:t>
            </a:r>
            <a:endParaRPr lang="en-US" sz="1700" dirty="0"/>
          </a:p>
        </p:txBody>
      </p:sp>
      <p:sp>
        <p:nvSpPr>
          <p:cNvPr id="12" name="Text 10"/>
          <p:cNvSpPr/>
          <p:nvPr/>
        </p:nvSpPr>
        <p:spPr>
          <a:xfrm>
            <a:off x="822960" y="5486400"/>
            <a:ext cx="10515600" cy="457200"/>
          </a:xfrm>
          <a:prstGeom prst="rect">
            <a:avLst/>
          </a:prstGeom>
          <a:noFill/>
          <a:ln/>
        </p:spPr>
        <p:txBody>
          <a:bodyPr wrap="square" lIns="0" tIns="0" rIns="0" bIns="0" rtlCol="0" anchor="ctr"/>
          <a:lstStyle/>
          <a:p>
            <a:pPr algn="ctr" indent="0" marL="0">
              <a:buNone/>
            </a:pPr>
            <a:r>
              <a:rPr lang="en-US" sz="2000" i="1" dirty="0">
                <a:solidFill>
                  <a:srgbClr val="FFFFFF"/>
                </a:solidFill>
                <a:latin typeface="Calibri" pitchFamily="34" charset="0"/>
                <a:ea typeface="Calibri" pitchFamily="34" charset="-122"/>
                <a:cs typeface="Calibri" pitchFamily="34" charset="-120"/>
              </a:rPr>
              <a:t>Both are true. Only one of them is the question a subscription asks.</a:t>
            </a:r>
            <a:endParaRPr lang="en-US" sz="2000" dirty="0"/>
          </a:p>
        </p:txBody>
      </p:sp>
      <p:sp>
        <p:nvSpPr>
          <p:cNvPr id="13" name="Text 11"/>
          <p:cNvSpPr/>
          <p:nvPr/>
        </p:nvSpPr>
        <p:spPr>
          <a:xfrm>
            <a:off x="822960" y="6035040"/>
            <a:ext cx="10515600" cy="365760"/>
          </a:xfrm>
          <a:prstGeom prst="rect">
            <a:avLst/>
          </a:prstGeom>
          <a:noFill/>
          <a:ln/>
        </p:spPr>
        <p:txBody>
          <a:bodyPr wrap="square" lIns="0" tIns="0" rIns="0" bIns="0" rtlCol="0" anchor="ctr"/>
          <a:lstStyle/>
          <a:p>
            <a:pPr algn="ctr" indent="0" marL="0">
              <a:buNone/>
            </a:pPr>
            <a:r>
              <a:rPr lang="en-US" sz="1200" dirty="0">
                <a:solidFill>
                  <a:srgbClr val="B0A4D6"/>
                </a:solidFill>
                <a:latin typeface="Calibri" pitchFamily="34" charset="0"/>
                <a:ea typeface="Calibri" pitchFamily="34" charset="-122"/>
                <a:cs typeface="Calibri" pitchFamily="34" charset="-120"/>
              </a:rPr>
              <a:t>Measured on Steam retail price, identically on both groups. A comparison, not a cost.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0F2E"/>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THE SLATE</a:t>
            </a:r>
            <a:endParaRPr lang="en-US" sz="13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Twenty-one titles, three jobs</a:t>
            </a:r>
            <a:endParaRPr lang="en-US" sz="3800" dirty="0"/>
          </a:p>
        </p:txBody>
      </p:sp>
      <p:sp>
        <p:nvSpPr>
          <p:cNvPr id="4" name="Shape 2"/>
          <p:cNvSpPr/>
          <p:nvPr/>
        </p:nvSpPr>
        <p:spPr>
          <a:xfrm>
            <a:off x="640080" y="1828800"/>
            <a:ext cx="3611880" cy="4160520"/>
          </a:xfrm>
          <a:prstGeom prst="roundRect">
            <a:avLst>
              <a:gd name="adj" fmla="val 3038"/>
            </a:avLst>
          </a:prstGeom>
          <a:solidFill>
            <a:srgbClr val="1F1540"/>
          </a:solidFill>
          <a:ln w="12700">
            <a:solidFill>
              <a:srgbClr val="271B4D"/>
            </a:solidFill>
            <a:prstDash val="solid"/>
          </a:ln>
        </p:spPr>
      </p:sp>
      <p:sp>
        <p:nvSpPr>
          <p:cNvPr id="5" name="Shape 3"/>
          <p:cNvSpPr/>
          <p:nvPr/>
        </p:nvSpPr>
        <p:spPr>
          <a:xfrm>
            <a:off x="914400" y="2084832"/>
            <a:ext cx="777240" cy="640080"/>
          </a:xfrm>
          <a:prstGeom prst="roundRect">
            <a:avLst>
              <a:gd name="adj" fmla="val 14286"/>
            </a:avLst>
          </a:prstGeom>
          <a:solidFill>
            <a:srgbClr val="F5A623"/>
          </a:solidFill>
          <a:ln w="12700">
            <a:solidFill>
              <a:srgbClr val="F5A623"/>
            </a:solidFill>
            <a:prstDash val="solid"/>
          </a:ln>
        </p:spPr>
      </p:sp>
      <p:sp>
        <p:nvSpPr>
          <p:cNvPr id="6" name="Text 4"/>
          <p:cNvSpPr/>
          <p:nvPr/>
        </p:nvSpPr>
        <p:spPr>
          <a:xfrm>
            <a:off x="914400" y="2084832"/>
            <a:ext cx="777240" cy="640080"/>
          </a:xfrm>
          <a:prstGeom prst="rect">
            <a:avLst/>
          </a:prstGeom>
          <a:noFill/>
          <a:ln/>
        </p:spPr>
        <p:txBody>
          <a:bodyPr wrap="square" lIns="0" tIns="0" rIns="0" bIns="0" rtlCol="0" anchor="ctr"/>
          <a:lstStyle/>
          <a:p>
            <a:pPr algn="ctr" indent="0" marL="0">
              <a:buNone/>
            </a:pPr>
            <a:r>
              <a:rPr lang="en-US" sz="2600" b="1" dirty="0">
                <a:solidFill>
                  <a:srgbClr val="3A2400"/>
                </a:solidFill>
                <a:latin typeface="Cambria" pitchFamily="34" charset="0"/>
                <a:ea typeface="Cambria" pitchFamily="34" charset="-122"/>
                <a:cs typeface="Cambria" pitchFamily="34" charset="-120"/>
              </a:rPr>
              <a:t>4</a:t>
            </a:r>
            <a:endParaRPr lang="en-US" sz="2600" dirty="0"/>
          </a:p>
        </p:txBody>
      </p:sp>
      <p:sp>
        <p:nvSpPr>
          <p:cNvPr id="7" name="Text 5"/>
          <p:cNvSpPr/>
          <p:nvPr/>
        </p:nvSpPr>
        <p:spPr>
          <a:xfrm>
            <a:off x="1828800" y="2084832"/>
            <a:ext cx="2286000"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Clean adds</a:t>
            </a:r>
            <a:endParaRPr lang="en-US" sz="1900" dirty="0"/>
          </a:p>
        </p:txBody>
      </p:sp>
      <p:sp>
        <p:nvSpPr>
          <p:cNvPr id="8" name="Text 6"/>
          <p:cNvSpPr/>
          <p:nvPr/>
        </p:nvSpPr>
        <p:spPr>
          <a:xfrm>
            <a:off x="914400" y="2834640"/>
            <a:ext cx="3063240" cy="822960"/>
          </a:xfrm>
          <a:prstGeom prst="rect">
            <a:avLst/>
          </a:prstGeom>
          <a:noFill/>
          <a:ln/>
        </p:spPr>
        <p:txBody>
          <a:bodyPr wrap="square" lIns="0" tIns="0" rIns="0" bIns="0" rtlCol="0" anchor="ctr"/>
          <a:lstStyle/>
          <a:p>
            <a:pPr indent="0" marL="0">
              <a:lnSpc>
                <a:spcPts val="1700"/>
              </a:lnSpc>
              <a:buNone/>
            </a:pPr>
            <a:r>
              <a:rPr lang="en-US" sz="1350" dirty="0">
                <a:solidFill>
                  <a:srgbClr val="B0A4D6"/>
                </a:solidFill>
                <a:latin typeface="Calibri" pitchFamily="34" charset="0"/>
                <a:ea typeface="Calibri" pitchFamily="34" charset="-122"/>
                <a:cs typeface="Calibri" pitchFamily="34" charset="-120"/>
              </a:rPr>
              <a:t>Nothing to explain. No prior run, no publisher mid-crisis.</a:t>
            </a:r>
            <a:endParaRPr lang="en-US" sz="1350" dirty="0"/>
          </a:p>
        </p:txBody>
      </p:sp>
      <p:sp>
        <p:nvSpPr>
          <p:cNvPr id="9" name="Text 7"/>
          <p:cNvSpPr/>
          <p:nvPr/>
        </p:nvSpPr>
        <p:spPr>
          <a:xfrm>
            <a:off x="914400" y="3611880"/>
            <a:ext cx="3108960" cy="2194560"/>
          </a:xfrm>
          <a:prstGeom prst="rect">
            <a:avLst/>
          </a:prstGeom>
          <a:noFill/>
          <a:ln/>
        </p:spPr>
        <p:txBody>
          <a:bodyPr wrap="square" lIns="0" tIns="0" rIns="0" bIns="0" rtlCol="0" anchor="ctr"/>
          <a:lstStyle/>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A Hat in Time</a:t>
            </a:r>
            <a:endParaRPr lang="en-US" sz="1350" dirty="0"/>
          </a:p>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Return of the Obra Dinn</a:t>
            </a:r>
            <a:endParaRPr lang="en-US" sz="1350" dirty="0"/>
          </a:p>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Rogue Legacy</a:t>
            </a:r>
            <a:endParaRPr lang="en-US" sz="1350" dirty="0"/>
          </a:p>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The Stanley Parable: Ultra Deluxe</a:t>
            </a:r>
            <a:endParaRPr lang="en-US" sz="1350" dirty="0"/>
          </a:p>
        </p:txBody>
      </p:sp>
      <p:sp>
        <p:nvSpPr>
          <p:cNvPr id="10" name="Shape 8"/>
          <p:cNvSpPr/>
          <p:nvPr/>
        </p:nvSpPr>
        <p:spPr>
          <a:xfrm>
            <a:off x="4480560" y="1828800"/>
            <a:ext cx="3611880" cy="4160520"/>
          </a:xfrm>
          <a:prstGeom prst="roundRect">
            <a:avLst>
              <a:gd name="adj" fmla="val 3038"/>
            </a:avLst>
          </a:prstGeom>
          <a:solidFill>
            <a:srgbClr val="1F1540"/>
          </a:solidFill>
          <a:ln w="12700">
            <a:solidFill>
              <a:srgbClr val="271B4D"/>
            </a:solidFill>
            <a:prstDash val="solid"/>
          </a:ln>
        </p:spPr>
      </p:sp>
      <p:sp>
        <p:nvSpPr>
          <p:cNvPr id="11" name="Shape 9"/>
          <p:cNvSpPr/>
          <p:nvPr/>
        </p:nvSpPr>
        <p:spPr>
          <a:xfrm>
            <a:off x="4754880" y="2084832"/>
            <a:ext cx="777240" cy="640080"/>
          </a:xfrm>
          <a:prstGeom prst="roundRect">
            <a:avLst>
              <a:gd name="adj" fmla="val 14286"/>
            </a:avLst>
          </a:prstGeom>
          <a:solidFill>
            <a:srgbClr val="41D6A8"/>
          </a:solidFill>
          <a:ln w="12700">
            <a:solidFill>
              <a:srgbClr val="41D6A8"/>
            </a:solidFill>
            <a:prstDash val="solid"/>
          </a:ln>
        </p:spPr>
      </p:sp>
      <p:sp>
        <p:nvSpPr>
          <p:cNvPr id="12" name="Text 10"/>
          <p:cNvSpPr/>
          <p:nvPr/>
        </p:nvSpPr>
        <p:spPr>
          <a:xfrm>
            <a:off x="4754880" y="2084832"/>
            <a:ext cx="777240" cy="640080"/>
          </a:xfrm>
          <a:prstGeom prst="rect">
            <a:avLst/>
          </a:prstGeom>
          <a:noFill/>
          <a:ln/>
        </p:spPr>
        <p:txBody>
          <a:bodyPr wrap="square" lIns="0" tIns="0" rIns="0" bIns="0" rtlCol="0" anchor="ctr"/>
          <a:lstStyle/>
          <a:p>
            <a:pPr algn="ctr" indent="0" marL="0">
              <a:buNone/>
            </a:pPr>
            <a:r>
              <a:rPr lang="en-US" sz="2600" b="1" dirty="0">
                <a:solidFill>
                  <a:srgbClr val="10281F"/>
                </a:solidFill>
                <a:latin typeface="Cambria" pitchFamily="34" charset="0"/>
                <a:ea typeface="Cambria" pitchFamily="34" charset="-122"/>
                <a:cs typeface="Cambria" pitchFamily="34" charset="-120"/>
              </a:rPr>
              <a:t>5</a:t>
            </a:r>
            <a:endParaRPr lang="en-US" sz="2600" dirty="0"/>
          </a:p>
        </p:txBody>
      </p:sp>
      <p:sp>
        <p:nvSpPr>
          <p:cNvPr id="13" name="Text 11"/>
          <p:cNvSpPr/>
          <p:nvPr/>
        </p:nvSpPr>
        <p:spPr>
          <a:xfrm>
            <a:off x="5669280" y="2084832"/>
            <a:ext cx="2286000"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Precedent restarts</a:t>
            </a:r>
            <a:endParaRPr lang="en-US" sz="1900" dirty="0"/>
          </a:p>
        </p:txBody>
      </p:sp>
      <p:sp>
        <p:nvSpPr>
          <p:cNvPr id="14" name="Text 12"/>
          <p:cNvSpPr/>
          <p:nvPr/>
        </p:nvSpPr>
        <p:spPr>
          <a:xfrm>
            <a:off x="4754880" y="2834640"/>
            <a:ext cx="3063240" cy="822960"/>
          </a:xfrm>
          <a:prstGeom prst="rect">
            <a:avLst/>
          </a:prstGeom>
          <a:noFill/>
          <a:ln/>
        </p:spPr>
        <p:txBody>
          <a:bodyPr wrap="square" lIns="0" tIns="0" rIns="0" bIns="0" rtlCol="0" anchor="ctr"/>
          <a:lstStyle/>
          <a:p>
            <a:pPr indent="0" marL="0">
              <a:lnSpc>
                <a:spcPts val="1700"/>
              </a:lnSpc>
              <a:buNone/>
            </a:pPr>
            <a:r>
              <a:rPr lang="en-US" sz="1350" dirty="0">
                <a:solidFill>
                  <a:srgbClr val="B0A4D6"/>
                </a:solidFill>
                <a:latin typeface="Calibri" pitchFamily="34" charset="0"/>
                <a:ea typeface="Calibri" pitchFamily="34" charset="-122"/>
                <a:cs typeface="Calibri" pitchFamily="34" charset="-120"/>
              </a:rPr>
              <a:t>Licences Microsoft has already signed once. Cheapest to execute.</a:t>
            </a:r>
            <a:endParaRPr lang="en-US" sz="1350" dirty="0"/>
          </a:p>
        </p:txBody>
      </p:sp>
      <p:sp>
        <p:nvSpPr>
          <p:cNvPr id="15" name="Text 13"/>
          <p:cNvSpPr/>
          <p:nvPr/>
        </p:nvSpPr>
        <p:spPr>
          <a:xfrm>
            <a:off x="4754880" y="3611880"/>
            <a:ext cx="3108960" cy="2194560"/>
          </a:xfrm>
          <a:prstGeom prst="rect">
            <a:avLst/>
          </a:prstGeom>
          <a:noFill/>
          <a:ln/>
        </p:spPr>
        <p:txBody>
          <a:bodyPr wrap="square" lIns="0" tIns="0" rIns="0" bIns="0" rtlCol="0" anchor="ctr"/>
          <a:lstStyle/>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VA-11 Hall-A</a:t>
            </a:r>
            <a:endParaRPr lang="en-US" sz="1350" dirty="0"/>
          </a:p>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Library Of Ruina</a:t>
            </a:r>
            <a:endParaRPr lang="en-US" sz="1350" dirty="0"/>
          </a:p>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Unpacking</a:t>
            </a:r>
            <a:endParaRPr lang="en-US" sz="1350" dirty="0"/>
          </a:p>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What Remains of Edith Finch</a:t>
            </a:r>
            <a:endParaRPr lang="en-US" sz="1350" dirty="0"/>
          </a:p>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Journey</a:t>
            </a:r>
            <a:endParaRPr lang="en-US" sz="1350" dirty="0"/>
          </a:p>
        </p:txBody>
      </p:sp>
      <p:sp>
        <p:nvSpPr>
          <p:cNvPr id="16" name="Shape 14"/>
          <p:cNvSpPr/>
          <p:nvPr/>
        </p:nvSpPr>
        <p:spPr>
          <a:xfrm>
            <a:off x="8321040" y="1828800"/>
            <a:ext cx="3611880" cy="4160520"/>
          </a:xfrm>
          <a:prstGeom prst="roundRect">
            <a:avLst>
              <a:gd name="adj" fmla="val 3038"/>
            </a:avLst>
          </a:prstGeom>
          <a:solidFill>
            <a:srgbClr val="1F1540"/>
          </a:solidFill>
          <a:ln w="12700">
            <a:solidFill>
              <a:srgbClr val="271B4D"/>
            </a:solidFill>
            <a:prstDash val="solid"/>
          </a:ln>
        </p:spPr>
      </p:sp>
      <p:sp>
        <p:nvSpPr>
          <p:cNvPr id="17" name="Shape 15"/>
          <p:cNvSpPr/>
          <p:nvPr/>
        </p:nvSpPr>
        <p:spPr>
          <a:xfrm>
            <a:off x="8595360" y="2084832"/>
            <a:ext cx="777240" cy="640080"/>
          </a:xfrm>
          <a:prstGeom prst="roundRect">
            <a:avLst>
              <a:gd name="adj" fmla="val 14286"/>
            </a:avLst>
          </a:prstGeom>
          <a:solidFill>
            <a:srgbClr val="8A6BE0"/>
          </a:solidFill>
          <a:ln w="12700">
            <a:solidFill>
              <a:srgbClr val="8A6BE0"/>
            </a:solidFill>
            <a:prstDash val="solid"/>
          </a:ln>
        </p:spPr>
      </p:sp>
      <p:sp>
        <p:nvSpPr>
          <p:cNvPr id="18" name="Text 16"/>
          <p:cNvSpPr/>
          <p:nvPr/>
        </p:nvSpPr>
        <p:spPr>
          <a:xfrm>
            <a:off x="8595360" y="2084832"/>
            <a:ext cx="777240" cy="640080"/>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12</a:t>
            </a:r>
            <a:endParaRPr lang="en-US" sz="2600" dirty="0"/>
          </a:p>
        </p:txBody>
      </p:sp>
      <p:sp>
        <p:nvSpPr>
          <p:cNvPr id="19" name="Text 17"/>
          <p:cNvSpPr/>
          <p:nvPr/>
        </p:nvSpPr>
        <p:spPr>
          <a:xfrm>
            <a:off x="9509760" y="2084832"/>
            <a:ext cx="2286000" cy="640080"/>
          </a:xfrm>
          <a:prstGeom prst="rect">
            <a:avLst/>
          </a:prstGeom>
          <a:noFill/>
          <a:ln/>
        </p:spPr>
        <p:txBody>
          <a:bodyPr wrap="square" lIns="0" tIns="0" rIns="0" bIns="0" rtlCol="0" anchor="ctr"/>
          <a:lstStyle/>
          <a:p>
            <a:pPr indent="0" marL="0">
              <a:buNone/>
            </a:pPr>
            <a:r>
              <a:rPr lang="en-US" sz="1900" b="1" dirty="0">
                <a:solidFill>
                  <a:srgbClr val="FFFFFF"/>
                </a:solidFill>
                <a:latin typeface="Cambria" pitchFamily="34" charset="0"/>
                <a:ea typeface="Cambria" pitchFamily="34" charset="-122"/>
                <a:cs typeface="Cambria" pitchFamily="34" charset="-120"/>
              </a:rPr>
              <a:t>Breadth block</a:t>
            </a:r>
            <a:endParaRPr lang="en-US" sz="1900" dirty="0"/>
          </a:p>
        </p:txBody>
      </p:sp>
      <p:sp>
        <p:nvSpPr>
          <p:cNvPr id="20" name="Text 18"/>
          <p:cNvSpPr/>
          <p:nvPr/>
        </p:nvSpPr>
        <p:spPr>
          <a:xfrm>
            <a:off x="8595360" y="2834640"/>
            <a:ext cx="3063240" cy="822960"/>
          </a:xfrm>
          <a:prstGeom prst="rect">
            <a:avLst/>
          </a:prstGeom>
          <a:noFill/>
          <a:ln/>
        </p:spPr>
        <p:txBody>
          <a:bodyPr wrap="square" lIns="0" tIns="0" rIns="0" bIns="0" rtlCol="0" anchor="ctr"/>
          <a:lstStyle/>
          <a:p>
            <a:pPr indent="0" marL="0">
              <a:lnSpc>
                <a:spcPts val="1700"/>
              </a:lnSpc>
              <a:buNone/>
            </a:pPr>
            <a:r>
              <a:rPr lang="en-US" sz="1350" dirty="0">
                <a:solidFill>
                  <a:srgbClr val="B0A4D6"/>
                </a:solidFill>
                <a:latin typeface="Calibri" pitchFamily="34" charset="0"/>
                <a:ea typeface="Calibri" pitchFamily="34" charset="-122"/>
                <a:cs typeface="Calibri" pitchFamily="34" charset="-120"/>
              </a:rPr>
              <a:t>This tier is the investment case. Breadth is title count at a quality bar.</a:t>
            </a:r>
            <a:endParaRPr lang="en-US" sz="1350" dirty="0"/>
          </a:p>
        </p:txBody>
      </p:sp>
      <p:sp>
        <p:nvSpPr>
          <p:cNvPr id="21" name="Text 19"/>
          <p:cNvSpPr/>
          <p:nvPr/>
        </p:nvSpPr>
        <p:spPr>
          <a:xfrm>
            <a:off x="8595360" y="3611880"/>
            <a:ext cx="3108960" cy="2194560"/>
          </a:xfrm>
          <a:prstGeom prst="rect">
            <a:avLst/>
          </a:prstGeom>
          <a:noFill/>
          <a:ln/>
        </p:spPr>
        <p:txBody>
          <a:bodyPr wrap="square" lIns="0" tIns="0" rIns="0" bIns="0" rtlCol="0" anchor="ctr"/>
          <a:lstStyle/>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ENDER LILIES · SANABI</a:t>
            </a:r>
            <a:endParaRPr lang="en-US" sz="1350" dirty="0"/>
          </a:p>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Chants of Sennaar · Firework</a:t>
            </a:r>
            <a:endParaRPr lang="en-US" sz="1350" dirty="0"/>
          </a:p>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Wandering Sword · Potion Craft</a:t>
            </a:r>
            <a:endParaRPr lang="en-US" sz="1350" dirty="0"/>
          </a:p>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CARRION · A Short Hike</a:t>
            </a:r>
            <a:endParaRPr lang="en-US" sz="1350" dirty="0"/>
          </a:p>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Path Of Wuxia · The Hungry Lamb</a:t>
            </a:r>
            <a:endParaRPr lang="en-US" sz="1350" dirty="0"/>
          </a:p>
          <a:p>
            <a:pPr indent="0" marL="0">
              <a:lnSpc>
                <a:spcPts val="2100"/>
              </a:lnSpc>
              <a:buNone/>
            </a:pPr>
            <a:r>
              <a:rPr lang="en-US" sz="1350" dirty="0">
                <a:solidFill>
                  <a:srgbClr val="FFFFFF"/>
                </a:solidFill>
                <a:latin typeface="Calibri" pitchFamily="34" charset="0"/>
                <a:ea typeface="Calibri" pitchFamily="34" charset="-122"/>
                <a:cs typeface="Calibri" pitchFamily="34" charset="-120"/>
              </a:rPr>
              <a:t>Sanfu · Temtem</a:t>
            </a:r>
            <a:endParaRPr lang="en-US" sz="1350" dirty="0"/>
          </a:p>
        </p:txBody>
      </p:sp>
      <p:sp>
        <p:nvSpPr>
          <p:cNvPr id="22" name="Text 20"/>
          <p:cNvSpPr/>
          <p:nvPr/>
        </p:nvSpPr>
        <p:spPr>
          <a:xfrm>
            <a:off x="640080" y="6263640"/>
            <a:ext cx="10881360" cy="365760"/>
          </a:xfrm>
          <a:prstGeom prst="rect">
            <a:avLst/>
          </a:prstGeom>
          <a:noFill/>
          <a:ln/>
        </p:spPr>
        <p:txBody>
          <a:bodyPr wrap="square" lIns="0" tIns="0" rIns="0" bIns="0" rtlCol="0" anchor="ctr"/>
          <a:lstStyle/>
          <a:p>
            <a:pPr indent="0" marL="0">
              <a:buNone/>
            </a:pPr>
            <a:r>
              <a:rPr lang="en-US" sz="1500" i="1" dirty="0">
                <a:solidFill>
                  <a:srgbClr val="F5A623"/>
                </a:solidFill>
                <a:latin typeface="Calibri" pitchFamily="34" charset="0"/>
                <a:ea typeface="Calibri" pitchFamily="34" charset="-122"/>
                <a:cs typeface="Calibri" pitchFamily="34" charset="-120"/>
              </a:rPr>
              <a:t>Recognition and price rise together: these 21 keep 40% of the pool's breadth advantage, not all of it.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0F2E"/>
        </a:solidFill>
      </p:bgPr>
    </p:bg>
    <p:spTree>
      <p:nvGrpSpPr>
        <p:cNvPr id="1" name=""/>
        <p:cNvGrpSpPr/>
        <p:nvPr/>
      </p:nvGrpSpPr>
      <p:grpSpPr>
        <a:xfrm>
          <a:off x="0" y="0"/>
          <a:ext cx="0" cy="0"/>
          <a:chOff x="0" y="0"/>
          <a:chExt cx="0" cy="0"/>
        </a:xfrm>
      </p:grpSpPr>
      <p:sp>
        <p:nvSpPr>
          <p:cNvPr id="2" name="Text 0"/>
          <p:cNvSpPr/>
          <p:nvPr/>
        </p:nvSpPr>
        <p:spPr>
          <a:xfrm>
            <a:off x="640080" y="502920"/>
            <a:ext cx="10881360" cy="320040"/>
          </a:xfrm>
          <a:prstGeom prst="rect">
            <a:avLst/>
          </a:prstGeom>
          <a:noFill/>
          <a:ln/>
        </p:spPr>
        <p:txBody>
          <a:bodyPr wrap="square" lIns="0" tIns="0" rIns="0" bIns="0" rtlCol="0" anchor="ctr"/>
          <a:lstStyle/>
          <a:p>
            <a:pPr indent="0" marL="0">
              <a:buNone/>
            </a:pPr>
            <a:r>
              <a:rPr lang="en-US" sz="1300" b="1" spc="200" kern="0" dirty="0">
                <a:solidFill>
                  <a:srgbClr val="F5A623"/>
                </a:solidFill>
                <a:latin typeface="Calibri" pitchFamily="34" charset="0"/>
                <a:ea typeface="Calibri" pitchFamily="34" charset="-122"/>
                <a:cs typeface="Calibri" pitchFamily="34" charset="-120"/>
              </a:rPr>
              <a:t>THE ASK</a:t>
            </a:r>
            <a:endParaRPr lang="en-US" sz="1300" dirty="0"/>
          </a:p>
        </p:txBody>
      </p:sp>
      <p:sp>
        <p:nvSpPr>
          <p:cNvPr id="3" name="Text 1"/>
          <p:cNvSpPr/>
          <p:nvPr/>
        </p:nvSpPr>
        <p:spPr>
          <a:xfrm>
            <a:off x="640080" y="868680"/>
            <a:ext cx="10881360" cy="822960"/>
          </a:xfrm>
          <a:prstGeom prst="rect">
            <a:avLst/>
          </a:prstGeom>
          <a:noFill/>
          <a:ln/>
        </p:spPr>
        <p:txBody>
          <a:bodyPr wrap="square" lIns="0" tIns="0" rIns="0" bIns="0" rtlCol="0" anchor="ctr"/>
          <a:lstStyle/>
          <a:p>
            <a:pPr algn="l" indent="0" marL="0">
              <a:buNone/>
            </a:pPr>
            <a:r>
              <a:rPr lang="en-US" sz="3800" b="1" dirty="0">
                <a:solidFill>
                  <a:srgbClr val="FFFFFF"/>
                </a:solidFill>
                <a:latin typeface="Cambria" pitchFamily="34" charset="0"/>
                <a:ea typeface="Cambria" pitchFamily="34" charset="-122"/>
                <a:cs typeface="Cambria" pitchFamily="34" charset="-120"/>
              </a:rPr>
              <a:t>What we want approved today</a:t>
            </a:r>
            <a:endParaRPr lang="en-US" sz="3800" dirty="0"/>
          </a:p>
        </p:txBody>
      </p:sp>
      <p:sp>
        <p:nvSpPr>
          <p:cNvPr id="4" name="Shape 2"/>
          <p:cNvSpPr/>
          <p:nvPr/>
        </p:nvSpPr>
        <p:spPr>
          <a:xfrm>
            <a:off x="640080" y="1920240"/>
            <a:ext cx="10881360" cy="1143000"/>
          </a:xfrm>
          <a:prstGeom prst="roundRect">
            <a:avLst>
              <a:gd name="adj" fmla="val 9600"/>
            </a:avLst>
          </a:prstGeom>
          <a:solidFill>
            <a:srgbClr val="271B4D"/>
          </a:solidFill>
          <a:ln w="12700">
            <a:solidFill>
              <a:srgbClr val="271B4D"/>
            </a:solidFill>
            <a:prstDash val="solid"/>
          </a:ln>
        </p:spPr>
      </p:sp>
      <p:sp>
        <p:nvSpPr>
          <p:cNvPr id="5" name="Shape 3"/>
          <p:cNvSpPr/>
          <p:nvPr/>
        </p:nvSpPr>
        <p:spPr>
          <a:xfrm>
            <a:off x="914400" y="2176272"/>
            <a:ext cx="640080" cy="640080"/>
          </a:xfrm>
          <a:prstGeom prst="roundRect">
            <a:avLst>
              <a:gd name="adj" fmla="val 14286"/>
            </a:avLst>
          </a:prstGeom>
          <a:solidFill>
            <a:srgbClr val="F5A623"/>
          </a:solidFill>
          <a:ln w="12700">
            <a:solidFill>
              <a:srgbClr val="F5A623"/>
            </a:solidFill>
            <a:prstDash val="solid"/>
          </a:ln>
        </p:spPr>
      </p:sp>
      <p:sp>
        <p:nvSpPr>
          <p:cNvPr id="6" name="Text 4"/>
          <p:cNvSpPr/>
          <p:nvPr/>
        </p:nvSpPr>
        <p:spPr>
          <a:xfrm>
            <a:off x="914400" y="2176272"/>
            <a:ext cx="640080" cy="640080"/>
          </a:xfrm>
          <a:prstGeom prst="rect">
            <a:avLst/>
          </a:prstGeom>
          <a:noFill/>
          <a:ln/>
        </p:spPr>
        <p:txBody>
          <a:bodyPr wrap="square" lIns="0" tIns="0" rIns="0" bIns="0" rtlCol="0" anchor="ctr"/>
          <a:lstStyle/>
          <a:p>
            <a:pPr algn="ctr" indent="0" marL="0">
              <a:buNone/>
            </a:pPr>
            <a:r>
              <a:rPr lang="en-US" sz="2400" b="1" dirty="0">
                <a:solidFill>
                  <a:srgbClr val="3A2400"/>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1783080" y="2103120"/>
            <a:ext cx="3108960" cy="41148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Open negotiations</a:t>
            </a:r>
            <a:endParaRPr lang="en-US" sz="2100" dirty="0"/>
          </a:p>
        </p:txBody>
      </p:sp>
      <p:sp>
        <p:nvSpPr>
          <p:cNvPr id="8" name="Text 6"/>
          <p:cNvSpPr/>
          <p:nvPr/>
        </p:nvSpPr>
        <p:spPr>
          <a:xfrm>
            <a:off x="1783080" y="2542032"/>
            <a:ext cx="9418320" cy="411480"/>
          </a:xfrm>
          <a:prstGeom prst="rect">
            <a:avLst/>
          </a:prstGeom>
          <a:noFill/>
          <a:ln/>
        </p:spPr>
        <p:txBody>
          <a:bodyPr wrap="square" lIns="0" tIns="0" rIns="0" bIns="0" rtlCol="0" anchor="ctr"/>
          <a:lstStyle/>
          <a:p>
            <a:pPr indent="0" marL="0">
              <a:buNone/>
            </a:pPr>
            <a:r>
              <a:rPr lang="en-US" sz="1450" dirty="0">
                <a:solidFill>
                  <a:srgbClr val="B0A4D6"/>
                </a:solidFill>
                <a:latin typeface="Calibri" pitchFamily="34" charset="0"/>
                <a:ea typeface="Calibri" pitchFamily="34" charset="-122"/>
                <a:cs typeface="Calibri" pitchFamily="34" charset="-120"/>
              </a:rPr>
              <a:t>The four clean adds, and the two restarts with a stable counterparty.</a:t>
            </a:r>
            <a:endParaRPr lang="en-US" sz="1450" dirty="0"/>
          </a:p>
        </p:txBody>
      </p:sp>
      <p:sp>
        <p:nvSpPr>
          <p:cNvPr id="9" name="Shape 7"/>
          <p:cNvSpPr/>
          <p:nvPr/>
        </p:nvSpPr>
        <p:spPr>
          <a:xfrm>
            <a:off x="640080" y="3246120"/>
            <a:ext cx="10881360" cy="1143000"/>
          </a:xfrm>
          <a:prstGeom prst="roundRect">
            <a:avLst>
              <a:gd name="adj" fmla="val 9600"/>
            </a:avLst>
          </a:prstGeom>
          <a:solidFill>
            <a:srgbClr val="271B4D"/>
          </a:solidFill>
          <a:ln w="12700">
            <a:solidFill>
              <a:srgbClr val="271B4D"/>
            </a:solidFill>
            <a:prstDash val="solid"/>
          </a:ln>
        </p:spPr>
      </p:sp>
      <p:sp>
        <p:nvSpPr>
          <p:cNvPr id="10" name="Shape 8"/>
          <p:cNvSpPr/>
          <p:nvPr/>
        </p:nvSpPr>
        <p:spPr>
          <a:xfrm>
            <a:off x="914400" y="3502152"/>
            <a:ext cx="640080" cy="640080"/>
          </a:xfrm>
          <a:prstGeom prst="roundRect">
            <a:avLst>
              <a:gd name="adj" fmla="val 14286"/>
            </a:avLst>
          </a:prstGeom>
          <a:solidFill>
            <a:srgbClr val="F5A623"/>
          </a:solidFill>
          <a:ln w="12700">
            <a:solidFill>
              <a:srgbClr val="F5A623"/>
            </a:solidFill>
            <a:prstDash val="solid"/>
          </a:ln>
        </p:spPr>
      </p:sp>
      <p:sp>
        <p:nvSpPr>
          <p:cNvPr id="11" name="Text 9"/>
          <p:cNvSpPr/>
          <p:nvPr/>
        </p:nvSpPr>
        <p:spPr>
          <a:xfrm>
            <a:off x="914400" y="3502152"/>
            <a:ext cx="640080" cy="640080"/>
          </a:xfrm>
          <a:prstGeom prst="rect">
            <a:avLst/>
          </a:prstGeom>
          <a:noFill/>
          <a:ln/>
        </p:spPr>
        <p:txBody>
          <a:bodyPr wrap="square" lIns="0" tIns="0" rIns="0" bIns="0" rtlCol="0" anchor="ctr"/>
          <a:lstStyle/>
          <a:p>
            <a:pPr algn="ctr" indent="0" marL="0">
              <a:buNone/>
            </a:pPr>
            <a:r>
              <a:rPr lang="en-US" sz="2400" b="1" dirty="0">
                <a:solidFill>
                  <a:srgbClr val="3A2400"/>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1783080" y="3429000"/>
            <a:ext cx="3108960" cy="41148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Extend the screen</a:t>
            </a:r>
            <a:endParaRPr lang="en-US" sz="2100" dirty="0"/>
          </a:p>
        </p:txBody>
      </p:sp>
      <p:sp>
        <p:nvSpPr>
          <p:cNvPr id="13" name="Text 11"/>
          <p:cNvSpPr/>
          <p:nvPr/>
        </p:nvSpPr>
        <p:spPr>
          <a:xfrm>
            <a:off x="1783080" y="3867912"/>
            <a:ext cx="9418320" cy="411480"/>
          </a:xfrm>
          <a:prstGeom prst="rect">
            <a:avLst/>
          </a:prstGeom>
          <a:noFill/>
          <a:ln/>
        </p:spPr>
        <p:txBody>
          <a:bodyPr wrap="square" lIns="0" tIns="0" rIns="0" bIns="0" rtlCol="0" anchor="ctr"/>
          <a:lstStyle/>
          <a:p>
            <a:pPr indent="0" marL="0">
              <a:buNone/>
            </a:pPr>
            <a:r>
              <a:rPr lang="en-US" sz="1450" dirty="0">
                <a:solidFill>
                  <a:srgbClr val="B0A4D6"/>
                </a:solidFill>
                <a:latin typeface="Calibri" pitchFamily="34" charset="0"/>
                <a:ea typeface="Calibri" pitchFamily="34" charset="-122"/>
                <a:cs typeface="Calibri" pitchFamily="34" charset="-120"/>
              </a:rPr>
              <a:t>Availability research from rank 25 to rank 60 — 35 titles, and where the genre gap closes.</a:t>
            </a:r>
            <a:endParaRPr lang="en-US" sz="1450" dirty="0"/>
          </a:p>
        </p:txBody>
      </p:sp>
      <p:sp>
        <p:nvSpPr>
          <p:cNvPr id="14" name="Shape 12"/>
          <p:cNvSpPr/>
          <p:nvPr/>
        </p:nvSpPr>
        <p:spPr>
          <a:xfrm>
            <a:off x="640080" y="4572000"/>
            <a:ext cx="10881360" cy="1143000"/>
          </a:xfrm>
          <a:prstGeom prst="roundRect">
            <a:avLst>
              <a:gd name="adj" fmla="val 9600"/>
            </a:avLst>
          </a:prstGeom>
          <a:solidFill>
            <a:srgbClr val="271B4D"/>
          </a:solidFill>
          <a:ln w="12700">
            <a:solidFill>
              <a:srgbClr val="271B4D"/>
            </a:solidFill>
            <a:prstDash val="solid"/>
          </a:ln>
        </p:spPr>
      </p:sp>
      <p:sp>
        <p:nvSpPr>
          <p:cNvPr id="15" name="Shape 13"/>
          <p:cNvSpPr/>
          <p:nvPr/>
        </p:nvSpPr>
        <p:spPr>
          <a:xfrm>
            <a:off x="914400" y="4828032"/>
            <a:ext cx="640080" cy="640080"/>
          </a:xfrm>
          <a:prstGeom prst="roundRect">
            <a:avLst>
              <a:gd name="adj" fmla="val 14286"/>
            </a:avLst>
          </a:prstGeom>
          <a:solidFill>
            <a:srgbClr val="F5A623"/>
          </a:solidFill>
          <a:ln w="12700">
            <a:solidFill>
              <a:srgbClr val="F5A623"/>
            </a:solidFill>
            <a:prstDash val="solid"/>
          </a:ln>
        </p:spPr>
      </p:sp>
      <p:sp>
        <p:nvSpPr>
          <p:cNvPr id="16" name="Text 14"/>
          <p:cNvSpPr/>
          <p:nvPr/>
        </p:nvSpPr>
        <p:spPr>
          <a:xfrm>
            <a:off x="914400" y="4828032"/>
            <a:ext cx="640080" cy="640080"/>
          </a:xfrm>
          <a:prstGeom prst="rect">
            <a:avLst/>
          </a:prstGeom>
          <a:noFill/>
          <a:ln/>
        </p:spPr>
        <p:txBody>
          <a:bodyPr wrap="square" lIns="0" tIns="0" rIns="0" bIns="0" rtlCol="0" anchor="ctr"/>
          <a:lstStyle/>
          <a:p>
            <a:pPr algn="ctr" indent="0" marL="0">
              <a:buNone/>
            </a:pPr>
            <a:r>
              <a:rPr lang="en-US" sz="2400" b="1" dirty="0">
                <a:solidFill>
                  <a:srgbClr val="3A2400"/>
                </a:solidFill>
                <a:latin typeface="Cambria" pitchFamily="34" charset="0"/>
                <a:ea typeface="Cambria" pitchFamily="34" charset="-122"/>
                <a:cs typeface="Cambria" pitchFamily="34" charset="-120"/>
              </a:rPr>
              <a:t>3</a:t>
            </a:r>
            <a:endParaRPr lang="en-US" sz="2400" dirty="0"/>
          </a:p>
        </p:txBody>
      </p:sp>
      <p:sp>
        <p:nvSpPr>
          <p:cNvPr id="17" name="Text 15"/>
          <p:cNvSpPr/>
          <p:nvPr/>
        </p:nvSpPr>
        <p:spPr>
          <a:xfrm>
            <a:off x="1783080" y="4754880"/>
            <a:ext cx="3108960" cy="411480"/>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Accept the first cut</a:t>
            </a:r>
            <a:endParaRPr lang="en-US" sz="2100" dirty="0"/>
          </a:p>
        </p:txBody>
      </p:sp>
      <p:sp>
        <p:nvSpPr>
          <p:cNvPr id="18" name="Text 16"/>
          <p:cNvSpPr/>
          <p:nvPr/>
        </p:nvSpPr>
        <p:spPr>
          <a:xfrm>
            <a:off x="1783080" y="5193792"/>
            <a:ext cx="9418320" cy="411480"/>
          </a:xfrm>
          <a:prstGeom prst="rect">
            <a:avLst/>
          </a:prstGeom>
          <a:noFill/>
          <a:ln/>
        </p:spPr>
        <p:txBody>
          <a:bodyPr wrap="square" lIns="0" tIns="0" rIns="0" bIns="0" rtlCol="0" anchor="ctr"/>
          <a:lstStyle/>
          <a:p>
            <a:pPr indent="0" marL="0">
              <a:buNone/>
            </a:pPr>
            <a:r>
              <a:rPr lang="en-US" sz="1450" dirty="0">
                <a:solidFill>
                  <a:srgbClr val="B0A4D6"/>
                </a:solidFill>
                <a:latin typeface="Calibri" pitchFamily="34" charset="0"/>
                <a:ea typeface="Calibri" pitchFamily="34" charset="-122"/>
                <a:cs typeface="Calibri" pitchFamily="34" charset="-120"/>
              </a:rPr>
              <a:t>Temtem goes first if the budget bites. Dropping it alone improves breadth per dollar.</a:t>
            </a:r>
            <a:endParaRPr lang="en-US" sz="1450" dirty="0"/>
          </a:p>
        </p:txBody>
      </p:sp>
      <p:sp>
        <p:nvSpPr>
          <p:cNvPr id="19" name="Shape 17"/>
          <p:cNvSpPr/>
          <p:nvPr/>
        </p:nvSpPr>
        <p:spPr>
          <a:xfrm>
            <a:off x="640080" y="5897880"/>
            <a:ext cx="10881360" cy="685800"/>
          </a:xfrm>
          <a:prstGeom prst="roundRect">
            <a:avLst>
              <a:gd name="adj" fmla="val 16000"/>
            </a:avLst>
          </a:prstGeom>
          <a:solidFill>
            <a:srgbClr val="1F1540"/>
          </a:solidFill>
          <a:ln w="12700">
            <a:solidFill>
              <a:srgbClr val="1F1540"/>
            </a:solidFill>
            <a:prstDash val="solid"/>
          </a:ln>
        </p:spPr>
      </p:sp>
      <p:sp>
        <p:nvSpPr>
          <p:cNvPr id="20" name="Text 18"/>
          <p:cNvSpPr/>
          <p:nvPr/>
        </p:nvSpPr>
        <p:spPr>
          <a:xfrm>
            <a:off x="914400" y="5897880"/>
            <a:ext cx="10332720" cy="685800"/>
          </a:xfrm>
          <a:prstGeom prst="rect">
            <a:avLst/>
          </a:prstGeom>
          <a:noFill/>
          <a:ln/>
        </p:spPr>
        <p:txBody>
          <a:bodyPr wrap="square" lIns="0" tIns="0" rIns="0" bIns="0" rtlCol="0" anchor="ctr"/>
          <a:lstStyle/>
          <a:p>
            <a:pPr indent="0" marL="0">
              <a:lnSpc>
                <a:spcPts val="1500"/>
              </a:lnSpc>
              <a:buNone/>
            </a:pPr>
            <a:r>
              <a:rPr lang="en-US" sz="1200" dirty="0">
                <a:solidFill>
                  <a:srgbClr val="B0A4D6"/>
                </a:solidFill>
                <a:latin typeface="Calibri" pitchFamily="34" charset="0"/>
                <a:ea typeface="Calibri" pitchFamily="34" charset="-122"/>
                <a:cs typeface="Calibri" pitchFamily="34" charset="-120"/>
              </a:rPr>
              <a:t>No engagement claim is made: this data has no playtime at all. Owners are bucketed estimates, not sales. Retail price is not licensing cost — no indie-tier Game Pass price exists in the public record.</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Buying breadth, not blockbusters</dc:title>
  <dc:subject>PptxGenJS Presentation</dc:subject>
  <dc:creator>Game Pass portfolio analysis</dc:creator>
  <cp:lastModifiedBy>Game Pass portfolio analysis</cp:lastModifiedBy>
  <cp:revision>1</cp:revision>
  <dcterms:created xsi:type="dcterms:W3CDTF">2026-08-23T11:30:59Z</dcterms:created>
  <dcterms:modified xsi:type="dcterms:W3CDTF">2026-08-23T11:30:59Z</dcterms:modified>
</cp:coreProperties>
</file>