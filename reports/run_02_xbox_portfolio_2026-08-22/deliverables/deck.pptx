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 remaining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Non-demo
games</c:v>
                  </c:pt>
                  <c:pt idx="1">
                    <c:v>Eligible
(review floor 4,000)</c:v>
                  </c:pt>
                  <c:pt idx="2">
                    <c:v>Qualifying
(composite ≥ 0.60)</c:v>
                  </c:pt>
                  <c:pt idx="3">
                    <c:v>Availability
screened</c:v>
                  </c:pt>
                  <c:pt idx="4">
                    <c:v>Picks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122191</c:v>
                </c:pt>
                <c:pt idx="1">
                  <c:v>802</c:v>
                </c:pt>
                <c:pt idx="2">
                  <c:v>275</c:v>
                </c:pt>
                <c:pt idx="3">
                  <c:v>30</c:v>
                </c:pt>
                <c:pt idx="4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5000"/>
          <c:min val="0"/>
        </c:scaling>
        <c:delete val="0"/>
        <c:axPos val="l"/>
        <c:majorGridlines>
          <c:spPr>
            <a:ln w="12700" cap="flat">
              <a:solidFill>
                <a:srgbClr val="E4E9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FCFC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 · Clean spine</c:v>
                  </c:pt>
                  <c:pt idx="1">
                    <c:v>2 · Restarts</c:v>
                  </c:pt>
                  <c:pt idx="2">
                    <c:v>3 · Confirm-then-sign</c:v>
                  </c:pt>
                  <c:pt idx="3">
                    <c:v>Watchlist (not a buy)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6</c:v>
                </c:pt>
                <c:pt idx="2">
                  <c:v>8</c:v>
                </c:pt>
                <c:pt idx="3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0"/>
        <c:axPos val="b"/>
        <c:majorGridlines>
          <c:spPr>
            <a:ln w="12700" cap="flat">
              <a:solidFill>
                <a:srgbClr val="E4E9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B7B6E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6B7B6E"/>
                </a:solidFill>
                <a:latin typeface="Calibri"/>
              </a:rPr>
              <a:t>Steam reviews (recognition — not sales, not engagement)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Steam reviews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What Remains of Edith Finch</c:v>
                  </c:pt>
                  <c:pt idx="1">
                    <c:v>Phoenix Wright: Ace Attorney Trilogy</c:v>
                  </c:pt>
                  <c:pt idx="2">
                    <c:v>Unpacking</c:v>
                  </c:pt>
                  <c:pt idx="3">
                    <c:v>Persona 3 Reload</c:v>
                  </c:pt>
                  <c:pt idx="4">
                    <c:v>Library Of Ruina</c:v>
                  </c:pt>
                  <c:pt idx="5">
                    <c:v>Danganronpa 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41326</c:v>
                </c:pt>
                <c:pt idx="1">
                  <c:v>33505</c:v>
                </c:pt>
                <c:pt idx="2">
                  <c:v>32385</c:v>
                </c:pt>
                <c:pt idx="3">
                  <c:v>29312</c:v>
                </c:pt>
                <c:pt idx="4">
                  <c:v>29181</c:v>
                </c:pt>
                <c:pt idx="5">
                  <c:v>25177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0"/>
        </c:scaling>
        <c:delete val="0"/>
        <c:axPos val="b"/>
        <c:majorGridlines>
          <c:spPr>
            <a:ln w="12700" cap="flat">
              <a:solidFill>
                <a:srgbClr val="E4E9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Hook. Land 122,191 and 17 as a pair. Name the three games slowly, one beat each. Do not explain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four numbers, then hold a beat on "Seventeen survived." 17/122,191 = 0.014%.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finding: no port risk. Flat, fast, factual. Do not decorate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through the six names. Then raise the objection yourself before anyone else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ask on two fingers. Then stop talking. Do not add a closing 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Seventeen names.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back-catalogue titles to license into Game Pass, plus a 7-title watchlist that is explicitly not a buy.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3291840" cy="1783080"/>
          </a:xfrm>
          <a:prstGeom prst="roundRect">
            <a:avLst>
              <a:gd name="adj" fmla="val 5128"/>
            </a:avLst>
          </a:prstGeom>
          <a:solidFill>
            <a:srgbClr val="1B4526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3017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Hat in Time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50,390 reviews · Metacritic 79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2514600"/>
            <a:ext cx="3291840" cy="1783080"/>
          </a:xfrm>
          <a:prstGeom prst="roundRect">
            <a:avLst>
              <a:gd name="adj" fmla="val 5128"/>
            </a:avLst>
          </a:prstGeom>
          <a:solidFill>
            <a:srgbClr val="1B4526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3017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of the Obra Dinn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26,518 reviews · Metacritic 89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2514600"/>
            <a:ext cx="3291840" cy="1783080"/>
          </a:xfrm>
          <a:prstGeom prst="roundRect">
            <a:avLst>
              <a:gd name="adj" fmla="val 5128"/>
            </a:avLst>
          </a:prstGeom>
          <a:solidFill>
            <a:srgbClr val="1B4526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18388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83880" y="3017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Baba Is You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83880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20,757 reviews · Metacritic 87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that lead: never on Game Pass · Xbox version confirmed · no blocker.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60350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/ Xbox board · 22 August 2026 · every title sourced from the Steam snapshot, none from the web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122,191 games in. 17 out.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Screened by stated thresholds, not by taste. Every stage is checkable.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7589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920240"/>
            <a:ext cx="3017520" cy="3840480"/>
          </a:xfrm>
          <a:prstGeom prst="roundRect">
            <a:avLst>
              <a:gd name="adj" fmla="val 3030"/>
            </a:avLst>
          </a:prstGeom>
          <a:solidFill>
            <a:srgbClr val="EEF3EE"/>
          </a:solidFill>
          <a:ln/>
        </p:spPr>
      </p:sp>
      <p:sp>
        <p:nvSpPr>
          <p:cNvPr id="6" name="Text 3"/>
          <p:cNvSpPr/>
          <p:nvPr/>
        </p:nvSpPr>
        <p:spPr>
          <a:xfrm>
            <a:off x="8732520" y="2148840"/>
            <a:ext cx="2560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0.014%
</a:t>
            </a:r>
            <a:endParaRPr lang="en-US" sz="34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catalogue survives the funnel. The bar is stated up front — a review floor of 4,000, a composite of 0.60, and an external Game Pass and Xbox-version check on every candidate that got that far.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02_cleaning_report.md · 16_scoring_v3.md · 13_availability.md (screened Aug 2026)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tiers, ordered by risk — not by taste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17 picks have a confirmed native Xbox console SKU. There is no port risk anywhere on the buy list.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49377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73736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EEF3EE"/>
          </a:solidFill>
          <a:ln/>
        </p:spPr>
      </p:sp>
      <p:sp>
        <p:nvSpPr>
          <p:cNvPr id="6" name="Text 3"/>
          <p:cNvSpPr/>
          <p:nvPr/>
        </p:nvSpPr>
        <p:spPr>
          <a:xfrm>
            <a:off x="6144768" y="18013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Clean spine — 3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144768" y="208483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on Game Pass, Xbox SKU confirmed, no blocker. The only tier with no unanswered question. It leads.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2761488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EEF3EE"/>
          </a:solidFill>
          <a:ln/>
        </p:spPr>
      </p:sp>
      <p:sp>
        <p:nvSpPr>
          <p:cNvPr id="9" name="Text 6"/>
          <p:cNvSpPr/>
          <p:nvPr/>
        </p:nvSpPr>
        <p:spPr>
          <a:xfrm>
            <a:off x="6144768" y="282549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Restarts — 6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44768" y="310896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on Game Pass. Port shipped, certification passed, rights holder already said yes once. Cheapest to execute — second on purpose.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3785616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EEF3EE"/>
          </a:solidFill>
          <a:ln/>
        </p:spPr>
      </p:sp>
      <p:sp>
        <p:nvSpPr>
          <p:cNvPr id="12" name="Text 9"/>
          <p:cNvSpPr/>
          <p:nvPr/>
        </p:nvSpPr>
        <p:spPr>
          <a:xfrm>
            <a:off x="6144768" y="384962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Confirm-then-sign — 8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44768" y="413308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Xbox SKU confirmed for all eight. Only the current subscription status is open. One check, then sign.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0" y="4809744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2F3F1"/>
          </a:solidFill>
          <a:ln/>
        </p:spPr>
      </p:sp>
      <p:sp>
        <p:nvSpPr>
          <p:cNvPr id="15" name="Text 12"/>
          <p:cNvSpPr/>
          <p:nvPr/>
        </p:nvSpPr>
        <p:spPr>
          <a:xfrm>
            <a:off x="6144768" y="48737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8F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Watchlist — 7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144768" y="515721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verified Xbox version. Named so the board sees them; explicitly NOT a buy. Promoted only on confirmation.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17_portfolio_final.json · availability verdicts 13_availability.json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of them, we already licensed once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 shipped. Certification passed. The rights holder already said yes. Cheapest tier to execute.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737360"/>
            <a:ext cx="3840480" cy="1920240"/>
          </a:xfrm>
          <a:prstGeom prst="roundRect">
            <a:avLst>
              <a:gd name="adj" fmla="val 4762"/>
            </a:avLst>
          </a:prstGeom>
          <a:solidFill>
            <a:srgbClr val="EEF3EE"/>
          </a:solidFill>
          <a:ln/>
        </p:spPr>
      </p:sp>
      <p:sp>
        <p:nvSpPr>
          <p:cNvPr id="6" name="Text 3"/>
          <p:cNvSpPr/>
          <p:nvPr/>
        </p:nvSpPr>
        <p:spPr>
          <a:xfrm>
            <a:off x="7882128" y="192024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Unpacking left ~2 months ago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warmest counterparty in the set, and the one call that can be made this week.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680960" y="3840480"/>
            <a:ext cx="3840480" cy="1920240"/>
          </a:xfrm>
          <a:prstGeom prst="roundRect">
            <a:avLst>
              <a:gd name="adj" fmla="val 4762"/>
            </a:avLst>
          </a:prstGeom>
          <a:solidFill>
            <a:srgbClr val="3A2419"/>
          </a:solidFill>
          <a:ln/>
        </p:spPr>
      </p:sp>
      <p:sp>
        <p:nvSpPr>
          <p:cNvPr id="8" name="Text 5"/>
          <p:cNvSpPr/>
          <p:nvPr/>
        </p:nvSpPr>
        <p:spPr>
          <a:xfrm>
            <a:off x="7882128" y="402336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8C3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they do not lead.
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F0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the publisher declined to renew — or we did, on engagement data this analysis has never seen. We cannot tell from outside. You can, from inside, in a day.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617220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Departures verified with dated sources, Aug 2026 · 13_availability.md Group C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8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658368" cy="6583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45920" y="16459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the seventeen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2103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licensing slate, worked in tier order: clean spine, then restarts, then confirm-then-sign. No studio purchase. No price change. No new development.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658368" cy="65836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91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45920" y="32461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Authorise one internal lookup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45920" y="37033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engagement record for the six restart titles during their prior runs. It costs nothing externally, takes a day, and closes the only open question on the list.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89204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1B4526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502920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Stated, not patched:  </a:t>
            </a:r>
            <a:pPr indent="0" marL="0">
              <a:buNone/>
            </a:pPr>
            <a:r>
              <a:rPr lang="en-US" sz="13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defensible per-title price exists for this tier, so none is offered — commit tier by tier and stop when the quotes stop making sense. Steam PC data behind an Xbox console decision. Picks are under a fifth Action against more than half the qualifying pool; the remedy was tested, did not work, and was withdrawn.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2026-08-22T15:14:36Z</dcterms:created>
  <dcterms:modified xsi:type="dcterms:W3CDTF">2026-08-22T15:14:36Z</dcterms:modified>
</cp:coreProperties>
</file>